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14400" y="1005840"/>
            <a:ext cx="1828800" cy="73152"/>
          </a:xfrm>
          <a:prstGeom prst="rect">
            <a:avLst/>
          </a:prstGeom>
          <a:solidFill>
            <a:srgbClr val="DC2626"/>
          </a:solidFill>
          <a:ln/>
        </p:spPr>
      </p:sp>
      <p:sp>
        <p:nvSpPr>
          <p:cNvPr id="3" name="Text 1"/>
          <p:cNvSpPr/>
          <p:nvPr/>
        </p:nvSpPr>
        <p:spPr>
          <a:xfrm>
            <a:off x="914400" y="1188720"/>
            <a:ext cx="10362895" cy="274320"/>
          </a:xfrm>
          <a:prstGeom prst="rect">
            <a:avLst/>
          </a:prstGeom>
          <a:noFill/>
          <a:ln/>
        </p:spPr>
        <p:txBody>
          <a:bodyPr wrap="square" rtlCol="0" anchor="ctr"/>
          <a:lstStyle/>
          <a:p>
            <a:pPr indent="0" marL="0">
              <a:buNone/>
            </a:pPr>
            <a:r>
              <a:rPr lang="en-US" sz="1200" b="1" spc="200" kern="0" dirty="0">
                <a:solidFill>
                  <a:srgbClr val="94A3B8"/>
                </a:solidFill>
                <a:latin typeface="Calibri" pitchFamily="34" charset="0"/>
                <a:ea typeface="Calibri" pitchFamily="34" charset="-122"/>
                <a:cs typeface="Calibri" pitchFamily="34" charset="-120"/>
              </a:rPr>
              <a:t>PROJECT PHASE 0 • ZEROTH REVIEW</a:t>
            </a:r>
            <a:endParaRPr lang="en-US" sz="1200" dirty="0"/>
          </a:p>
        </p:txBody>
      </p:sp>
      <p:sp>
        <p:nvSpPr>
          <p:cNvPr id="4" name="Text 2"/>
          <p:cNvSpPr/>
          <p:nvPr/>
        </p:nvSpPr>
        <p:spPr>
          <a:xfrm>
            <a:off x="914400" y="1554480"/>
            <a:ext cx="10362895" cy="868680"/>
          </a:xfrm>
          <a:prstGeom prst="rect">
            <a:avLst/>
          </a:prstGeom>
          <a:noFill/>
          <a:ln/>
        </p:spPr>
        <p:txBody>
          <a:bodyPr wrap="square"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ReliefLink</a:t>
            </a:r>
            <a:endParaRPr lang="en-US" sz="4200" dirty="0"/>
          </a:p>
        </p:txBody>
      </p:sp>
      <p:sp>
        <p:nvSpPr>
          <p:cNvPr id="5" name="Text 3"/>
          <p:cNvSpPr/>
          <p:nvPr/>
        </p:nvSpPr>
        <p:spPr>
          <a:xfrm>
            <a:off x="914400" y="2468880"/>
            <a:ext cx="10362895" cy="457200"/>
          </a:xfrm>
          <a:prstGeom prst="rect">
            <a:avLst/>
          </a:prstGeom>
          <a:noFill/>
          <a:ln/>
        </p:spPr>
        <p:txBody>
          <a:bodyPr wrap="square" rtlCol="0" anchor="ctr"/>
          <a:lstStyle/>
          <a:p>
            <a:pPr indent="0" marL="0">
              <a:buNone/>
            </a:pPr>
            <a:r>
              <a:rPr lang="en-US" sz="1700" b="1" dirty="0">
                <a:solidFill>
                  <a:srgbClr val="38BDF8"/>
                </a:solidFill>
                <a:latin typeface="Calibri" pitchFamily="34" charset="0"/>
                <a:ea typeface="Calibri" pitchFamily="34" charset="-122"/>
                <a:cs typeface="Calibri" pitchFamily="34" charset="-120"/>
              </a:rPr>
              <a:t>Real-Time Decentralized Disaster Relief &amp; Community Rescue Coordination Platform</a:t>
            </a:r>
            <a:endParaRPr lang="en-US" sz="1700" dirty="0"/>
          </a:p>
        </p:txBody>
      </p:sp>
      <p:sp>
        <p:nvSpPr>
          <p:cNvPr id="6" name="Text 4"/>
          <p:cNvSpPr/>
          <p:nvPr/>
        </p:nvSpPr>
        <p:spPr>
          <a:xfrm>
            <a:off x="914400" y="3063240"/>
            <a:ext cx="10362895" cy="731520"/>
          </a:xfrm>
          <a:prstGeom prst="rect">
            <a:avLst/>
          </a:prstGeom>
          <a:noFill/>
          <a:ln/>
        </p:spPr>
        <p:txBody>
          <a:bodyPr wrap="square" rtlCol="0" anchor="ctr"/>
          <a:lstStyle/>
          <a:p>
            <a:pPr indent="0" marL="0">
              <a:lnSpc>
                <a:spcPct val="125000"/>
              </a:lnSpc>
              <a:buNone/>
            </a:pPr>
            <a:r>
              <a:rPr lang="en-US" sz="1200" dirty="0">
                <a:solidFill>
                  <a:srgbClr val="CBD5E1"/>
                </a:solidFill>
                <a:latin typeface="Calibri" pitchFamily="34" charset="0"/>
                <a:ea typeface="Calibri" pitchFamily="34" charset="-122"/>
                <a:cs typeface="Calibri" pitchFamily="34" charset="-120"/>
              </a:rPr>
              <a:t>A mission-critical spatial coordination platform uniting distress victims, spontaneous community volunteers, and government forces (NDRF / SDRF / Fire &amp; Rescue) during the Golden Hour of calamities.</a:t>
            </a:r>
            <a:endParaRPr lang="en-US" sz="1200" dirty="0"/>
          </a:p>
        </p:txBody>
      </p:sp>
      <p:sp>
        <p:nvSpPr>
          <p:cNvPr id="7" name="Shape 5"/>
          <p:cNvSpPr/>
          <p:nvPr/>
        </p:nvSpPr>
        <p:spPr>
          <a:xfrm>
            <a:off x="914400" y="4114800"/>
            <a:ext cx="4937760" cy="1920240"/>
          </a:xfrm>
          <a:prstGeom prst="roundRect">
            <a:avLst>
              <a:gd name="adj" fmla="val 3810"/>
            </a:avLst>
          </a:prstGeom>
          <a:solidFill>
            <a:srgbClr val="1E293B"/>
          </a:solidFill>
          <a:ln w="15240">
            <a:solidFill>
              <a:srgbClr val="334155"/>
            </a:solidFill>
            <a:prstDash val="solid"/>
          </a:ln>
        </p:spPr>
      </p:sp>
      <p:sp>
        <p:nvSpPr>
          <p:cNvPr id="8" name="Text 6"/>
          <p:cNvSpPr/>
          <p:nvPr/>
        </p:nvSpPr>
        <p:spPr>
          <a:xfrm>
            <a:off x="1188720" y="4297680"/>
            <a:ext cx="4389120" cy="228600"/>
          </a:xfrm>
          <a:prstGeom prst="rect">
            <a:avLst/>
          </a:prstGeom>
          <a:noFill/>
          <a:ln/>
        </p:spPr>
        <p:txBody>
          <a:bodyPr wrap="square" rtlCol="0" anchor="ctr"/>
          <a:lstStyle/>
          <a:p>
            <a:pPr indent="0" marL="0">
              <a:buNone/>
            </a:pPr>
            <a:r>
              <a:rPr lang="en-US" sz="1000" b="1" dirty="0">
                <a:solidFill>
                  <a:srgbClr val="38BDF8"/>
                </a:solidFill>
                <a:latin typeface="Calibri" pitchFamily="34" charset="0"/>
                <a:ea typeface="Calibri" pitchFamily="34" charset="-122"/>
                <a:cs typeface="Calibri" pitchFamily="34" charset="-120"/>
              </a:rPr>
              <a:t>PRESENTED BY</a:t>
            </a:r>
            <a:endParaRPr lang="en-US" sz="1000" dirty="0"/>
          </a:p>
        </p:txBody>
      </p:sp>
      <p:sp>
        <p:nvSpPr>
          <p:cNvPr id="9" name="Text 7"/>
          <p:cNvSpPr/>
          <p:nvPr/>
        </p:nvSpPr>
        <p:spPr>
          <a:xfrm>
            <a:off x="1188720" y="4572000"/>
            <a:ext cx="438912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SANJAY K</a:t>
            </a:r>
            <a:endParaRPr lang="en-US" sz="1800" dirty="0"/>
          </a:p>
        </p:txBody>
      </p:sp>
      <p:sp>
        <p:nvSpPr>
          <p:cNvPr id="10" name="Text 8"/>
          <p:cNvSpPr/>
          <p:nvPr/>
        </p:nvSpPr>
        <p:spPr>
          <a:xfrm>
            <a:off x="1188720" y="4983480"/>
            <a:ext cx="4389120" cy="777240"/>
          </a:xfrm>
          <a:prstGeom prst="rect">
            <a:avLst/>
          </a:prstGeom>
          <a:noFill/>
          <a:ln/>
        </p:spPr>
        <p:txBody>
          <a:bodyPr wrap="square" rtlCol="0" anchor="ctr"/>
          <a:lstStyle/>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Register / Roll No: 310624104619</a:t>
            </a:r>
            <a:endParaRPr lang="en-US" sz="1100" dirty="0"/>
          </a:p>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Department of Computer Science &amp; Engineering</a:t>
            </a:r>
            <a:endParaRPr lang="en-US" sz="1100" dirty="0"/>
          </a:p>
          <a:p>
            <a:pPr indent="0" marL="0">
              <a:lnSpc>
                <a:spcPct val="120000"/>
              </a:lnSpc>
              <a:buNone/>
            </a:pPr>
            <a:r>
              <a:rPr lang="en-US" sz="1100" dirty="0">
                <a:solidFill>
                  <a:srgbClr val="94A3B8"/>
                </a:solidFill>
                <a:latin typeface="Calibri" pitchFamily="34" charset="0"/>
                <a:ea typeface="Calibri" pitchFamily="34" charset="-122"/>
                <a:cs typeface="Calibri" pitchFamily="34" charset="-120"/>
              </a:rPr>
              <a:t>Academic Year: 2025–2026</a:t>
            </a:r>
            <a:endParaRPr lang="en-US" sz="1100" dirty="0"/>
          </a:p>
        </p:txBody>
      </p:sp>
      <p:sp>
        <p:nvSpPr>
          <p:cNvPr id="11" name="Shape 9"/>
          <p:cNvSpPr/>
          <p:nvPr/>
        </p:nvSpPr>
        <p:spPr>
          <a:xfrm>
            <a:off x="6309360" y="4114800"/>
            <a:ext cx="4967935" cy="1920240"/>
          </a:xfrm>
          <a:prstGeom prst="roundRect">
            <a:avLst>
              <a:gd name="adj" fmla="val 3810"/>
            </a:avLst>
          </a:prstGeom>
          <a:solidFill>
            <a:srgbClr val="1E293B"/>
          </a:solidFill>
          <a:ln w="15240">
            <a:solidFill>
              <a:srgbClr val="334155"/>
            </a:solidFill>
            <a:prstDash val="solid"/>
          </a:ln>
        </p:spPr>
      </p:sp>
      <p:sp>
        <p:nvSpPr>
          <p:cNvPr id="12" name="Text 10"/>
          <p:cNvSpPr/>
          <p:nvPr/>
        </p:nvSpPr>
        <p:spPr>
          <a:xfrm>
            <a:off x="6583680" y="4297680"/>
            <a:ext cx="4389120" cy="228600"/>
          </a:xfrm>
          <a:prstGeom prst="rect">
            <a:avLst/>
          </a:prstGeom>
          <a:noFill/>
          <a:ln/>
        </p:spPr>
        <p:txBody>
          <a:bodyPr wrap="square" rtlCol="0" anchor="ctr"/>
          <a:lstStyle/>
          <a:p>
            <a:pPr indent="0" marL="0">
              <a:buNone/>
            </a:pPr>
            <a:r>
              <a:rPr lang="en-US" sz="1000" b="1" dirty="0">
                <a:solidFill>
                  <a:srgbClr val="34D399"/>
                </a:solidFill>
                <a:latin typeface="Calibri" pitchFamily="34" charset="0"/>
                <a:ea typeface="Calibri" pitchFamily="34" charset="-122"/>
                <a:cs typeface="Calibri" pitchFamily="34" charset="-120"/>
              </a:rPr>
              <a:t>PROJECT SPECIFICATIONS</a:t>
            </a:r>
            <a:endParaRPr lang="en-US" sz="1000" dirty="0"/>
          </a:p>
        </p:txBody>
      </p:sp>
      <p:sp>
        <p:nvSpPr>
          <p:cNvPr id="13" name="Text 11"/>
          <p:cNvSpPr/>
          <p:nvPr/>
        </p:nvSpPr>
        <p:spPr>
          <a:xfrm>
            <a:off x="6583680" y="4617720"/>
            <a:ext cx="4389120" cy="1143000"/>
          </a:xfrm>
          <a:prstGeom prst="rect">
            <a:avLst/>
          </a:prstGeom>
          <a:noFill/>
          <a:ln/>
        </p:spPr>
        <p:txBody>
          <a:bodyPr wrap="square" rtlCol="0" anchor="ctr"/>
          <a:lstStyle/>
          <a:p>
            <a:pPr indent="0" marL="0">
              <a:lnSpc>
                <a:spcPct val="120000"/>
              </a:lnSpc>
              <a:buNone/>
            </a:pPr>
            <a:r>
              <a:rPr lang="en-US" sz="1050" dirty="0">
                <a:solidFill>
                  <a:srgbClr val="CBD5E1"/>
                </a:solidFill>
                <a:latin typeface="Calibri" pitchFamily="34" charset="0"/>
                <a:ea typeface="Calibri" pitchFamily="34" charset="-122"/>
                <a:cs typeface="Calibri" pitchFamily="34" charset="-120"/>
              </a:rPr>
              <a:t>Domain: Full-Stack Web, GIS Spatial Computing, Real-Time Distributed Systems</a:t>
            </a:r>
            <a:endParaRPr lang="en-US" sz="1050" dirty="0"/>
          </a:p>
          <a:p>
            <a:pPr indent="0" marL="0">
              <a:lnSpc>
                <a:spcPct val="120000"/>
              </a:lnSpc>
              <a:buNone/>
            </a:pPr>
            <a:r>
              <a:rPr lang="en-US" sz="1050" dirty="0">
                <a:solidFill>
                  <a:srgbClr val="CBD5E1"/>
                </a:solidFill>
                <a:latin typeface="Calibri" pitchFamily="34" charset="0"/>
                <a:ea typeface="Calibri" pitchFamily="34" charset="-122"/>
                <a:cs typeface="Calibri" pitchFamily="34" charset="-120"/>
              </a:rPr>
              <a:t>Tech Stack: Node.js, Express, Socket.IO, PostgreSQL, Leaflet OSM, React 18, TypeScript</a:t>
            </a:r>
            <a:endParaRPr lang="en-US" sz="1050" dirty="0"/>
          </a:p>
          <a:p>
            <a:pPr indent="0" marL="0">
              <a:lnSpc>
                <a:spcPct val="120000"/>
              </a:lnSpc>
              <a:buNone/>
            </a:pPr>
            <a:r>
              <a:rPr lang="en-US" sz="1050" dirty="0">
                <a:solidFill>
                  <a:srgbClr val="CBD5E1"/>
                </a:solidFill>
                <a:latin typeface="Calibri" pitchFamily="34" charset="0"/>
                <a:ea typeface="Calibri" pitchFamily="34" charset="-122"/>
                <a:cs typeface="Calibri" pitchFamily="34" charset="-120"/>
              </a:rPr>
              <a:t>Target Application: National Disaster Response &amp; Humanitarian Relief (India)</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INTRODUCTION</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Project Overview &amp; National Context</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Bridging the critical response gap during severe natural and anthropogenic calamities.</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2 of 12</a:t>
            </a:r>
            <a:endParaRPr lang="en-US" sz="900" dirty="0"/>
          </a:p>
        </p:txBody>
      </p:sp>
      <p:sp>
        <p:nvSpPr>
          <p:cNvPr id="9" name="Shape 7"/>
          <p:cNvSpPr/>
          <p:nvPr/>
        </p:nvSpPr>
        <p:spPr>
          <a:xfrm>
            <a:off x="914400" y="1508760"/>
            <a:ext cx="3246120" cy="4480560"/>
          </a:xfrm>
          <a:prstGeom prst="roundRect">
            <a:avLst>
              <a:gd name="adj" fmla="val 2254"/>
            </a:avLst>
          </a:prstGeom>
          <a:solidFill>
            <a:srgbClr val="FFFFFF"/>
          </a:solidFill>
          <a:ln w="15240">
            <a:solidFill>
              <a:srgbClr val="CBD5E1"/>
            </a:solidFill>
            <a:prstDash val="solid"/>
          </a:ln>
        </p:spPr>
      </p:sp>
      <p:sp>
        <p:nvSpPr>
          <p:cNvPr id="10" name="Shape 8"/>
          <p:cNvSpPr/>
          <p:nvPr/>
        </p:nvSpPr>
        <p:spPr>
          <a:xfrm>
            <a:off x="1188720" y="1783080"/>
            <a:ext cx="548640" cy="73152"/>
          </a:xfrm>
          <a:prstGeom prst="rect">
            <a:avLst/>
          </a:prstGeom>
          <a:solidFill>
            <a:srgbClr val="DC2626"/>
          </a:solidFill>
          <a:ln/>
        </p:spPr>
      </p:sp>
      <p:sp>
        <p:nvSpPr>
          <p:cNvPr id="11" name="Text 9"/>
          <p:cNvSpPr/>
          <p:nvPr/>
        </p:nvSpPr>
        <p:spPr>
          <a:xfrm>
            <a:off x="1188720" y="1965960"/>
            <a:ext cx="2697480" cy="59436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Indian Calamity Landscape</a:t>
            </a:r>
            <a:endParaRPr lang="en-US" sz="1400" dirty="0"/>
          </a:p>
        </p:txBody>
      </p:sp>
      <p:sp>
        <p:nvSpPr>
          <p:cNvPr id="12" name="Text 10"/>
          <p:cNvSpPr/>
          <p:nvPr/>
        </p:nvSpPr>
        <p:spPr>
          <a:xfrm>
            <a:off x="1188720" y="2697480"/>
            <a:ext cx="2697480" cy="3017520"/>
          </a:xfrm>
          <a:prstGeom prst="rect">
            <a:avLst/>
          </a:prstGeom>
          <a:noFill/>
          <a:ln/>
        </p:spPr>
        <p:txBody>
          <a:bodyPr wrap="square"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India is intensely vulnerable to recurrent severe disasters: coastal cyclones (Bay of Bengal / Arabian Sea), urban floods (Chennai, Mumbai), river inundations, and landslides affecting millions annually.</a:t>
            </a:r>
            <a:endParaRPr lang="en-US" sz="1100" dirty="0"/>
          </a:p>
        </p:txBody>
      </p:sp>
      <p:sp>
        <p:nvSpPr>
          <p:cNvPr id="13" name="Shape 11"/>
          <p:cNvSpPr/>
          <p:nvPr/>
        </p:nvSpPr>
        <p:spPr>
          <a:xfrm>
            <a:off x="4471416" y="1508760"/>
            <a:ext cx="3246120" cy="4480560"/>
          </a:xfrm>
          <a:prstGeom prst="roundRect">
            <a:avLst>
              <a:gd name="adj" fmla="val 2254"/>
            </a:avLst>
          </a:prstGeom>
          <a:solidFill>
            <a:srgbClr val="FFFFFF"/>
          </a:solidFill>
          <a:ln w="15240">
            <a:solidFill>
              <a:srgbClr val="CBD5E1"/>
            </a:solidFill>
            <a:prstDash val="solid"/>
          </a:ln>
        </p:spPr>
      </p:sp>
      <p:sp>
        <p:nvSpPr>
          <p:cNvPr id="14" name="Shape 12"/>
          <p:cNvSpPr/>
          <p:nvPr/>
        </p:nvSpPr>
        <p:spPr>
          <a:xfrm>
            <a:off x="4745736" y="1783080"/>
            <a:ext cx="548640" cy="73152"/>
          </a:xfrm>
          <a:prstGeom prst="rect">
            <a:avLst/>
          </a:prstGeom>
          <a:solidFill>
            <a:srgbClr val="4F46E5"/>
          </a:solidFill>
          <a:ln/>
        </p:spPr>
      </p:sp>
      <p:sp>
        <p:nvSpPr>
          <p:cNvPr id="15" name="Text 13"/>
          <p:cNvSpPr/>
          <p:nvPr/>
        </p:nvSpPr>
        <p:spPr>
          <a:xfrm>
            <a:off x="4745736" y="1965960"/>
            <a:ext cx="2697480" cy="59436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"Golden Hour" Imperative</a:t>
            </a:r>
            <a:endParaRPr lang="en-US" sz="1400" dirty="0"/>
          </a:p>
        </p:txBody>
      </p:sp>
      <p:sp>
        <p:nvSpPr>
          <p:cNvPr id="16" name="Text 14"/>
          <p:cNvSpPr/>
          <p:nvPr/>
        </p:nvSpPr>
        <p:spPr>
          <a:xfrm>
            <a:off x="4745736" y="2697480"/>
            <a:ext cx="2697480" cy="3017520"/>
          </a:xfrm>
          <a:prstGeom prst="rect">
            <a:avLst/>
          </a:prstGeom>
          <a:noFill/>
          <a:ln/>
        </p:spPr>
        <p:txBody>
          <a:bodyPr wrap="square"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70% of disaster survivors are saved within the first 60 to 120 minutes by nearby spontaneous citizen volunteers before centralized paramilitary battalions can navigate flooded infrastructure.</a:t>
            </a:r>
            <a:endParaRPr lang="en-US" sz="1100" dirty="0"/>
          </a:p>
        </p:txBody>
      </p:sp>
      <p:sp>
        <p:nvSpPr>
          <p:cNvPr id="17" name="Shape 15"/>
          <p:cNvSpPr/>
          <p:nvPr/>
        </p:nvSpPr>
        <p:spPr>
          <a:xfrm>
            <a:off x="8028432" y="1508760"/>
            <a:ext cx="3246120" cy="4480560"/>
          </a:xfrm>
          <a:prstGeom prst="roundRect">
            <a:avLst>
              <a:gd name="adj" fmla="val 2254"/>
            </a:avLst>
          </a:prstGeom>
          <a:solidFill>
            <a:srgbClr val="FFFFFF"/>
          </a:solidFill>
          <a:ln w="15240">
            <a:solidFill>
              <a:srgbClr val="CBD5E1"/>
            </a:solidFill>
            <a:prstDash val="solid"/>
          </a:ln>
        </p:spPr>
      </p:sp>
      <p:sp>
        <p:nvSpPr>
          <p:cNvPr id="18" name="Shape 16"/>
          <p:cNvSpPr/>
          <p:nvPr/>
        </p:nvSpPr>
        <p:spPr>
          <a:xfrm>
            <a:off x="8302752" y="1783080"/>
            <a:ext cx="548640" cy="73152"/>
          </a:xfrm>
          <a:prstGeom prst="rect">
            <a:avLst/>
          </a:prstGeom>
          <a:solidFill>
            <a:srgbClr val="059669"/>
          </a:solidFill>
          <a:ln/>
        </p:spPr>
      </p:sp>
      <p:sp>
        <p:nvSpPr>
          <p:cNvPr id="19" name="Text 17"/>
          <p:cNvSpPr/>
          <p:nvPr/>
        </p:nvSpPr>
        <p:spPr>
          <a:xfrm>
            <a:off x="8302752" y="1965960"/>
            <a:ext cx="2697480" cy="59436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ReliefLink Solution</a:t>
            </a:r>
            <a:endParaRPr lang="en-US" sz="1400" dirty="0"/>
          </a:p>
        </p:txBody>
      </p:sp>
      <p:sp>
        <p:nvSpPr>
          <p:cNvPr id="20" name="Text 18"/>
          <p:cNvSpPr/>
          <p:nvPr/>
        </p:nvSpPr>
        <p:spPr>
          <a:xfrm>
            <a:off x="8302752" y="2697480"/>
            <a:ext cx="2697480" cy="3017520"/>
          </a:xfrm>
          <a:prstGeom prst="rect">
            <a:avLst/>
          </a:prstGeom>
          <a:noFill/>
          <a:ln/>
        </p:spPr>
        <p:txBody>
          <a:bodyPr wrap="square"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An open-source, resilient command-and-control platform uniting affected citizens, community "I Will Go" responders, and NDRF/SDRF government agencies into a synchronized tactical network.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PROBLEM FORMULATION</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Problem Statement &amp; Existing Limitations</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Critical bottlenecks currently plaguing conventional disaster response operations.</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3 of 12</a:t>
            </a:r>
            <a:endParaRPr lang="en-US" sz="900" dirty="0"/>
          </a:p>
        </p:txBody>
      </p:sp>
      <p:sp>
        <p:nvSpPr>
          <p:cNvPr id="9" name="Shape 7"/>
          <p:cNvSpPr/>
          <p:nvPr/>
        </p:nvSpPr>
        <p:spPr>
          <a:xfrm>
            <a:off x="914400" y="1508760"/>
            <a:ext cx="4983480" cy="2103120"/>
          </a:xfrm>
          <a:prstGeom prst="roundRect">
            <a:avLst>
              <a:gd name="adj" fmla="val 3478"/>
            </a:avLst>
          </a:prstGeom>
          <a:solidFill>
            <a:srgbClr val="FFFFFF"/>
          </a:solidFill>
          <a:ln w="15240">
            <a:solidFill>
              <a:srgbClr val="CBD5E1"/>
            </a:solidFill>
            <a:prstDash val="solid"/>
          </a:ln>
        </p:spPr>
      </p:sp>
      <p:sp>
        <p:nvSpPr>
          <p:cNvPr id="10" name="Text 8"/>
          <p:cNvSpPr/>
          <p:nvPr/>
        </p:nvSpPr>
        <p:spPr>
          <a:xfrm>
            <a:off x="1188720" y="1691640"/>
            <a:ext cx="640080" cy="365760"/>
          </a:xfrm>
          <a:prstGeom prst="rect">
            <a:avLst/>
          </a:prstGeom>
          <a:noFill/>
          <a:ln/>
        </p:spPr>
        <p:txBody>
          <a:bodyPr wrap="square" rtlCol="0" anchor="ctr"/>
          <a:lstStyle/>
          <a:p>
            <a:pPr indent="0" marL="0">
              <a:buNone/>
            </a:pPr>
            <a:r>
              <a:rPr lang="en-US" sz="2000" b="1" dirty="0">
                <a:solidFill>
                  <a:srgbClr val="DC2626"/>
                </a:solidFill>
                <a:latin typeface="Calibri" pitchFamily="34" charset="0"/>
                <a:ea typeface="Calibri" pitchFamily="34" charset="-122"/>
                <a:cs typeface="Calibri" pitchFamily="34" charset="-120"/>
              </a:rPr>
              <a:t>01</a:t>
            </a:r>
            <a:endParaRPr lang="en-US" sz="2000" dirty="0"/>
          </a:p>
        </p:txBody>
      </p:sp>
      <p:sp>
        <p:nvSpPr>
          <p:cNvPr id="11" name="Text 9"/>
          <p:cNvSpPr/>
          <p:nvPr/>
        </p:nvSpPr>
        <p:spPr>
          <a:xfrm>
            <a:off x="1874520" y="1691640"/>
            <a:ext cx="3749040" cy="41148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Helpline Congestion &amp; Single Points of Failure</a:t>
            </a:r>
            <a:endParaRPr lang="en-US" sz="1250" dirty="0"/>
          </a:p>
        </p:txBody>
      </p:sp>
      <p:sp>
        <p:nvSpPr>
          <p:cNvPr id="12" name="Text 10"/>
          <p:cNvSpPr/>
          <p:nvPr/>
        </p:nvSpPr>
        <p:spPr>
          <a:xfrm>
            <a:off x="1874520" y="2148840"/>
            <a:ext cx="3749040" cy="12344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Emergency 112 and 1070 control room lines collapse under call surges during peak disaster events, causing unrecorded calls, dropped lines, and fatal triage delays.</a:t>
            </a:r>
            <a:endParaRPr lang="en-US" sz="1050" dirty="0"/>
          </a:p>
        </p:txBody>
      </p:sp>
      <p:sp>
        <p:nvSpPr>
          <p:cNvPr id="13" name="Shape 11"/>
          <p:cNvSpPr/>
          <p:nvPr/>
        </p:nvSpPr>
        <p:spPr>
          <a:xfrm>
            <a:off x="6291072" y="1508760"/>
            <a:ext cx="4983480" cy="2103120"/>
          </a:xfrm>
          <a:prstGeom prst="roundRect">
            <a:avLst>
              <a:gd name="adj" fmla="val 3478"/>
            </a:avLst>
          </a:prstGeom>
          <a:solidFill>
            <a:srgbClr val="FFFFFF"/>
          </a:solidFill>
          <a:ln w="15240">
            <a:solidFill>
              <a:srgbClr val="CBD5E1"/>
            </a:solidFill>
            <a:prstDash val="solid"/>
          </a:ln>
        </p:spPr>
      </p:sp>
      <p:sp>
        <p:nvSpPr>
          <p:cNvPr id="14" name="Text 12"/>
          <p:cNvSpPr/>
          <p:nvPr/>
        </p:nvSpPr>
        <p:spPr>
          <a:xfrm>
            <a:off x="6565392" y="1691640"/>
            <a:ext cx="640080" cy="365760"/>
          </a:xfrm>
          <a:prstGeom prst="rect">
            <a:avLst/>
          </a:prstGeom>
          <a:noFill/>
          <a:ln/>
        </p:spPr>
        <p:txBody>
          <a:bodyPr wrap="square" rtlCol="0" anchor="ctr"/>
          <a:lstStyle/>
          <a:p>
            <a:pPr indent="0" marL="0">
              <a:buNone/>
            </a:pPr>
            <a:r>
              <a:rPr lang="en-US" sz="2000" b="1" dirty="0">
                <a:solidFill>
                  <a:srgbClr val="DC2626"/>
                </a:solidFill>
                <a:latin typeface="Calibri" pitchFamily="34" charset="0"/>
                <a:ea typeface="Calibri" pitchFamily="34" charset="-122"/>
                <a:cs typeface="Calibri" pitchFamily="34" charset="-120"/>
              </a:rPr>
              <a:t>02</a:t>
            </a:r>
            <a:endParaRPr lang="en-US" sz="2000" dirty="0"/>
          </a:p>
        </p:txBody>
      </p:sp>
      <p:sp>
        <p:nvSpPr>
          <p:cNvPr id="15" name="Text 13"/>
          <p:cNvSpPr/>
          <p:nvPr/>
        </p:nvSpPr>
        <p:spPr>
          <a:xfrm>
            <a:off x="7251192" y="1691640"/>
            <a:ext cx="3749040" cy="41148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Unverified Social Media SOS &amp; Resource Mismatch</a:t>
            </a:r>
            <a:endParaRPr lang="en-US" sz="1250" dirty="0"/>
          </a:p>
        </p:txBody>
      </p:sp>
      <p:sp>
        <p:nvSpPr>
          <p:cNvPr id="16" name="Text 14"/>
          <p:cNvSpPr/>
          <p:nvPr/>
        </p:nvSpPr>
        <p:spPr>
          <a:xfrm>
            <a:off x="7251192" y="2148840"/>
            <a:ext cx="3749040" cy="12344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Distress messages forwarded across WhatsApp and X lack precise GPS coordinates, leading to multiple rescue teams searching the same flooded street while adjacent sectors starve for aid.</a:t>
            </a:r>
            <a:endParaRPr lang="en-US" sz="1050" dirty="0"/>
          </a:p>
        </p:txBody>
      </p:sp>
      <p:sp>
        <p:nvSpPr>
          <p:cNvPr id="17" name="Shape 15"/>
          <p:cNvSpPr/>
          <p:nvPr/>
        </p:nvSpPr>
        <p:spPr>
          <a:xfrm>
            <a:off x="914400" y="3794760"/>
            <a:ext cx="4983480" cy="2103120"/>
          </a:xfrm>
          <a:prstGeom prst="roundRect">
            <a:avLst>
              <a:gd name="adj" fmla="val 3478"/>
            </a:avLst>
          </a:prstGeom>
          <a:solidFill>
            <a:srgbClr val="FFFFFF"/>
          </a:solidFill>
          <a:ln w="15240">
            <a:solidFill>
              <a:srgbClr val="CBD5E1"/>
            </a:solidFill>
            <a:prstDash val="solid"/>
          </a:ln>
        </p:spPr>
      </p:sp>
      <p:sp>
        <p:nvSpPr>
          <p:cNvPr id="18" name="Text 16"/>
          <p:cNvSpPr/>
          <p:nvPr/>
        </p:nvSpPr>
        <p:spPr>
          <a:xfrm>
            <a:off x="1188720" y="3977640"/>
            <a:ext cx="640080" cy="365760"/>
          </a:xfrm>
          <a:prstGeom prst="rect">
            <a:avLst/>
          </a:prstGeom>
          <a:noFill/>
          <a:ln/>
        </p:spPr>
        <p:txBody>
          <a:bodyPr wrap="square" rtlCol="0" anchor="ctr"/>
          <a:lstStyle/>
          <a:p>
            <a:pPr indent="0" marL="0">
              <a:buNone/>
            </a:pPr>
            <a:r>
              <a:rPr lang="en-US" sz="2000" b="1" dirty="0">
                <a:solidFill>
                  <a:srgbClr val="DC2626"/>
                </a:solidFill>
                <a:latin typeface="Calibri" pitchFamily="34" charset="0"/>
                <a:ea typeface="Calibri" pitchFamily="34" charset="-122"/>
                <a:cs typeface="Calibri" pitchFamily="34" charset="-120"/>
              </a:rPr>
              <a:t>03</a:t>
            </a:r>
            <a:endParaRPr lang="en-US" sz="2000" dirty="0"/>
          </a:p>
        </p:txBody>
      </p:sp>
      <p:sp>
        <p:nvSpPr>
          <p:cNvPr id="19" name="Text 17"/>
          <p:cNvSpPr/>
          <p:nvPr/>
        </p:nvSpPr>
        <p:spPr>
          <a:xfrm>
            <a:off x="1874520" y="3977640"/>
            <a:ext cx="3749040" cy="41148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Isolated Citizen Volunteers</a:t>
            </a:r>
            <a:endParaRPr lang="en-US" sz="1250" dirty="0"/>
          </a:p>
        </p:txBody>
      </p:sp>
      <p:sp>
        <p:nvSpPr>
          <p:cNvPr id="20" name="Text 18"/>
          <p:cNvSpPr/>
          <p:nvPr/>
        </p:nvSpPr>
        <p:spPr>
          <a:xfrm>
            <a:off x="1874520" y="4434840"/>
            <a:ext cx="3749040" cy="12344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Willing local youth and citizens have local boats, 4x4 vehicles, and medical kits, but have no verified channel to inform Government Command of their deployments.</a:t>
            </a:r>
            <a:endParaRPr lang="en-US" sz="1050" dirty="0"/>
          </a:p>
        </p:txBody>
      </p:sp>
      <p:sp>
        <p:nvSpPr>
          <p:cNvPr id="21" name="Shape 19"/>
          <p:cNvSpPr/>
          <p:nvPr/>
        </p:nvSpPr>
        <p:spPr>
          <a:xfrm>
            <a:off x="6291072" y="3794760"/>
            <a:ext cx="4983480" cy="2103120"/>
          </a:xfrm>
          <a:prstGeom prst="roundRect">
            <a:avLst>
              <a:gd name="adj" fmla="val 3478"/>
            </a:avLst>
          </a:prstGeom>
          <a:solidFill>
            <a:srgbClr val="FFFFFF"/>
          </a:solidFill>
          <a:ln w="15240">
            <a:solidFill>
              <a:srgbClr val="CBD5E1"/>
            </a:solidFill>
            <a:prstDash val="solid"/>
          </a:ln>
        </p:spPr>
      </p:sp>
      <p:sp>
        <p:nvSpPr>
          <p:cNvPr id="22" name="Text 20"/>
          <p:cNvSpPr/>
          <p:nvPr/>
        </p:nvSpPr>
        <p:spPr>
          <a:xfrm>
            <a:off x="6565392" y="3977640"/>
            <a:ext cx="640080" cy="365760"/>
          </a:xfrm>
          <a:prstGeom prst="rect">
            <a:avLst/>
          </a:prstGeom>
          <a:noFill/>
          <a:ln/>
        </p:spPr>
        <p:txBody>
          <a:bodyPr wrap="square" rtlCol="0" anchor="ctr"/>
          <a:lstStyle/>
          <a:p>
            <a:pPr indent="0" marL="0">
              <a:buNone/>
            </a:pPr>
            <a:r>
              <a:rPr lang="en-US" sz="2000" b="1" dirty="0">
                <a:solidFill>
                  <a:srgbClr val="DC2626"/>
                </a:solidFill>
                <a:latin typeface="Calibri" pitchFamily="34" charset="0"/>
                <a:ea typeface="Calibri" pitchFamily="34" charset="-122"/>
                <a:cs typeface="Calibri" pitchFamily="34" charset="-120"/>
              </a:rPr>
              <a:t>04</a:t>
            </a:r>
            <a:endParaRPr lang="en-US" sz="2000" dirty="0"/>
          </a:p>
        </p:txBody>
      </p:sp>
      <p:sp>
        <p:nvSpPr>
          <p:cNvPr id="23" name="Text 21"/>
          <p:cNvSpPr/>
          <p:nvPr/>
        </p:nvSpPr>
        <p:spPr>
          <a:xfrm>
            <a:off x="7251192" y="3977640"/>
            <a:ext cx="3749040" cy="41148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Command Blindspots &amp; Slow Official Dispatch</a:t>
            </a:r>
            <a:endParaRPr lang="en-US" sz="1250" dirty="0"/>
          </a:p>
        </p:txBody>
      </p:sp>
      <p:sp>
        <p:nvSpPr>
          <p:cNvPr id="24" name="Text 22"/>
          <p:cNvSpPr/>
          <p:nvPr/>
        </p:nvSpPr>
        <p:spPr>
          <a:xfrm>
            <a:off x="7251192" y="4434840"/>
            <a:ext cx="3749040" cy="12344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Disaster management officers struggle to determine which active rescue team (NDRF/SDRF/Fire) is nearest to a verified emergency cluster.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SOLUTION &amp; INNOVATION</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Proposed System &amp; Key Innovations</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ReliefLink introduces a unified real-time spatial fabric with bidirectional accountability.</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4 of 12</a:t>
            </a:r>
            <a:endParaRPr lang="en-US" sz="900" dirty="0"/>
          </a:p>
        </p:txBody>
      </p:sp>
      <p:sp>
        <p:nvSpPr>
          <p:cNvPr id="9" name="Shape 7"/>
          <p:cNvSpPr/>
          <p:nvPr/>
        </p:nvSpPr>
        <p:spPr>
          <a:xfrm>
            <a:off x="914400" y="1508760"/>
            <a:ext cx="4983480" cy="2103120"/>
          </a:xfrm>
          <a:prstGeom prst="roundRect">
            <a:avLst>
              <a:gd name="adj" fmla="val 3478"/>
            </a:avLst>
          </a:prstGeom>
          <a:solidFill>
            <a:srgbClr val="FFFFFF"/>
          </a:solidFill>
          <a:ln w="15240">
            <a:solidFill>
              <a:srgbClr val="CBD5E1"/>
            </a:solidFill>
            <a:prstDash val="solid"/>
          </a:ln>
        </p:spPr>
      </p:sp>
      <p:sp>
        <p:nvSpPr>
          <p:cNvPr id="10" name="Text 8"/>
          <p:cNvSpPr/>
          <p:nvPr/>
        </p:nvSpPr>
        <p:spPr>
          <a:xfrm>
            <a:off x="1188720" y="1673352"/>
            <a:ext cx="4434840" cy="201168"/>
          </a:xfrm>
          <a:prstGeom prst="rect">
            <a:avLst/>
          </a:prstGeom>
          <a:noFill/>
          <a:ln/>
        </p:spPr>
        <p:txBody>
          <a:bodyPr wrap="square" rtlCol="0" anchor="ctr"/>
          <a:lstStyle/>
          <a:p>
            <a:pPr indent="0" marL="0">
              <a:buNone/>
            </a:pPr>
            <a:r>
              <a:rPr lang="en-US" sz="900" b="1" dirty="0">
                <a:solidFill>
                  <a:srgbClr val="4F46E5"/>
                </a:solidFill>
                <a:latin typeface="Calibri" pitchFamily="34" charset="0"/>
                <a:ea typeface="Calibri" pitchFamily="34" charset="-122"/>
                <a:cs typeface="Calibri" pitchFamily="34" charset="-120"/>
              </a:rPr>
              <a:t>COMMUNITY MOBILIZATION</a:t>
            </a:r>
            <a:endParaRPr lang="en-US" sz="900" dirty="0"/>
          </a:p>
        </p:txBody>
      </p:sp>
      <p:sp>
        <p:nvSpPr>
          <p:cNvPr id="11" name="Text 9"/>
          <p:cNvSpPr/>
          <p:nvPr/>
        </p:nvSpPr>
        <p:spPr>
          <a:xfrm>
            <a:off x="1188720" y="1892808"/>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Hybrid Citizen-Volunteer Dynamic Model</a:t>
            </a:r>
            <a:endParaRPr lang="en-US" sz="1250" dirty="0"/>
          </a:p>
        </p:txBody>
      </p:sp>
      <p:sp>
        <p:nvSpPr>
          <p:cNvPr id="12" name="Text 10"/>
          <p:cNvSpPr/>
          <p:nvPr/>
        </p:nvSpPr>
        <p:spPr>
          <a:xfrm>
            <a:off x="1188720" y="2258568"/>
            <a:ext cx="4434840" cy="1234440"/>
          </a:xfrm>
          <a:prstGeom prst="rect">
            <a:avLst/>
          </a:prstGeom>
          <a:noFill/>
          <a:ln/>
        </p:spPr>
        <p:txBody>
          <a:bodyPr wrap="square" rtlCol="0" anchor="ctr"/>
          <a:lstStyle/>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Every registered citizen account can toggle and configure a verified community volunteer profile.</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Citizens can click "I Will Go and Help" with estimated ETA, vehicle type, and responder notes.</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Government Command instantly visualizes citizen deployments on the live operational board.</a:t>
            </a:r>
            <a:endParaRPr lang="en-US" sz="1000" dirty="0"/>
          </a:p>
        </p:txBody>
      </p:sp>
      <p:sp>
        <p:nvSpPr>
          <p:cNvPr id="13" name="Shape 11"/>
          <p:cNvSpPr/>
          <p:nvPr/>
        </p:nvSpPr>
        <p:spPr>
          <a:xfrm>
            <a:off x="6291072" y="1508760"/>
            <a:ext cx="4983480" cy="2103120"/>
          </a:xfrm>
          <a:prstGeom prst="roundRect">
            <a:avLst>
              <a:gd name="adj" fmla="val 3478"/>
            </a:avLst>
          </a:prstGeom>
          <a:solidFill>
            <a:srgbClr val="FFFFFF"/>
          </a:solidFill>
          <a:ln w="15240">
            <a:solidFill>
              <a:srgbClr val="CBD5E1"/>
            </a:solidFill>
            <a:prstDash val="solid"/>
          </a:ln>
        </p:spPr>
      </p:sp>
      <p:sp>
        <p:nvSpPr>
          <p:cNvPr id="14" name="Text 12"/>
          <p:cNvSpPr/>
          <p:nvPr/>
        </p:nvSpPr>
        <p:spPr>
          <a:xfrm>
            <a:off x="6565392" y="1673352"/>
            <a:ext cx="4434840" cy="201168"/>
          </a:xfrm>
          <a:prstGeom prst="rect">
            <a:avLst/>
          </a:prstGeom>
          <a:noFill/>
          <a:ln/>
        </p:spPr>
        <p:txBody>
          <a:bodyPr wrap="square" rtlCol="0" anchor="ctr"/>
          <a:lstStyle/>
          <a:p>
            <a:pPr indent="0" marL="0">
              <a:buNone/>
            </a:pPr>
            <a:r>
              <a:rPr lang="en-US" sz="900" b="1" dirty="0">
                <a:solidFill>
                  <a:srgbClr val="4F46E5"/>
                </a:solidFill>
                <a:latin typeface="Calibri" pitchFamily="34" charset="0"/>
                <a:ea typeface="Calibri" pitchFamily="34" charset="-122"/>
                <a:cs typeface="Calibri" pitchFamily="34" charset="-120"/>
              </a:rPr>
              <a:t>TACTICAL DISPATCH</a:t>
            </a:r>
            <a:endParaRPr lang="en-US" sz="900" dirty="0"/>
          </a:p>
        </p:txBody>
      </p:sp>
      <p:sp>
        <p:nvSpPr>
          <p:cNvPr id="15" name="Text 13"/>
          <p:cNvSpPr/>
          <p:nvPr/>
        </p:nvSpPr>
        <p:spPr>
          <a:xfrm>
            <a:off x="6565392" y="1892808"/>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Proximity-Sorted Government Rapid Dispatch</a:t>
            </a:r>
            <a:endParaRPr lang="en-US" sz="1250" dirty="0"/>
          </a:p>
        </p:txBody>
      </p:sp>
      <p:sp>
        <p:nvSpPr>
          <p:cNvPr id="16" name="Text 14"/>
          <p:cNvSpPr/>
          <p:nvPr/>
        </p:nvSpPr>
        <p:spPr>
          <a:xfrm>
            <a:off x="6565392" y="2258568"/>
            <a:ext cx="4434840" cy="1234440"/>
          </a:xfrm>
          <a:prstGeom prst="rect">
            <a:avLst/>
          </a:prstGeom>
          <a:noFill/>
          <a:ln/>
        </p:spPr>
        <p:txBody>
          <a:bodyPr wrap="square" rtlCol="0" anchor="ctr"/>
          <a:lstStyle/>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Spatial engine uses Haversine geodesic indexing to locate closest NDRF/SDRF units.</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Enables instant team assignment with direct operational orders and live ETA tracking.</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Automatically flags unbacked citizen volunteers so official rescue backup is dispatched.</a:t>
            </a:r>
            <a:endParaRPr lang="en-US" sz="1000" dirty="0"/>
          </a:p>
        </p:txBody>
      </p:sp>
      <p:sp>
        <p:nvSpPr>
          <p:cNvPr id="17" name="Shape 15"/>
          <p:cNvSpPr/>
          <p:nvPr/>
        </p:nvSpPr>
        <p:spPr>
          <a:xfrm>
            <a:off x="914400" y="3794760"/>
            <a:ext cx="4983480" cy="2103120"/>
          </a:xfrm>
          <a:prstGeom prst="roundRect">
            <a:avLst>
              <a:gd name="adj" fmla="val 3478"/>
            </a:avLst>
          </a:prstGeom>
          <a:solidFill>
            <a:srgbClr val="FFFFFF"/>
          </a:solidFill>
          <a:ln w="15240">
            <a:solidFill>
              <a:srgbClr val="CBD5E1"/>
            </a:solidFill>
            <a:prstDash val="solid"/>
          </a:ln>
        </p:spPr>
      </p:sp>
      <p:sp>
        <p:nvSpPr>
          <p:cNvPr id="18" name="Text 16"/>
          <p:cNvSpPr/>
          <p:nvPr/>
        </p:nvSpPr>
        <p:spPr>
          <a:xfrm>
            <a:off x="1188720" y="3959352"/>
            <a:ext cx="4434840" cy="201168"/>
          </a:xfrm>
          <a:prstGeom prst="rect">
            <a:avLst/>
          </a:prstGeom>
          <a:noFill/>
          <a:ln/>
        </p:spPr>
        <p:txBody>
          <a:bodyPr wrap="square" rtlCol="0" anchor="ctr"/>
          <a:lstStyle/>
          <a:p>
            <a:pPr indent="0" marL="0">
              <a:buNone/>
            </a:pPr>
            <a:r>
              <a:rPr lang="en-US" sz="900" b="1" dirty="0">
                <a:solidFill>
                  <a:srgbClr val="4F46E5"/>
                </a:solidFill>
                <a:latin typeface="Calibri" pitchFamily="34" charset="0"/>
                <a:ea typeface="Calibri" pitchFamily="34" charset="-122"/>
                <a:cs typeface="Calibri" pitchFamily="34" charset="-120"/>
              </a:rPr>
              <a:t>GEOSPATIAL INTELLIGENCE</a:t>
            </a:r>
            <a:endParaRPr lang="en-US" sz="900" dirty="0"/>
          </a:p>
        </p:txBody>
      </p:sp>
      <p:sp>
        <p:nvSpPr>
          <p:cNvPr id="19" name="Text 17"/>
          <p:cNvSpPr/>
          <p:nvPr/>
        </p:nvSpPr>
        <p:spPr>
          <a:xfrm>
            <a:off x="1188720" y="4178808"/>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Live Interactive Tactical Map (GIS Leaflet)</a:t>
            </a:r>
            <a:endParaRPr lang="en-US" sz="1250" dirty="0"/>
          </a:p>
        </p:txBody>
      </p:sp>
      <p:sp>
        <p:nvSpPr>
          <p:cNvPr id="20" name="Text 18"/>
          <p:cNvSpPr/>
          <p:nvPr/>
        </p:nvSpPr>
        <p:spPr>
          <a:xfrm>
            <a:off x="1188720" y="4544568"/>
            <a:ext cx="4434840" cy="1234440"/>
          </a:xfrm>
          <a:prstGeom prst="rect">
            <a:avLst/>
          </a:prstGeom>
          <a:noFill/>
          <a:ln/>
        </p:spPr>
        <p:txBody>
          <a:bodyPr wrap="square" rtlCol="0" anchor="ctr"/>
          <a:lstStyle/>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Real-time visualization of distress markers, volunteer units, relief hubs, and hazard zones.</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Dynamic evacuation perimeters rendered as interactive circular geofences.</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Instant filter by urgency level (CRITICAL, HIGH, MEDIUM) and emergency type.</a:t>
            </a:r>
            <a:endParaRPr lang="en-US" sz="1000" dirty="0"/>
          </a:p>
        </p:txBody>
      </p:sp>
      <p:sp>
        <p:nvSpPr>
          <p:cNvPr id="21" name="Shape 19"/>
          <p:cNvSpPr/>
          <p:nvPr/>
        </p:nvSpPr>
        <p:spPr>
          <a:xfrm>
            <a:off x="6291072" y="3794760"/>
            <a:ext cx="4983480" cy="2103120"/>
          </a:xfrm>
          <a:prstGeom prst="roundRect">
            <a:avLst>
              <a:gd name="adj" fmla="val 3478"/>
            </a:avLst>
          </a:prstGeom>
          <a:solidFill>
            <a:srgbClr val="FFFFFF"/>
          </a:solidFill>
          <a:ln w="15240">
            <a:solidFill>
              <a:srgbClr val="CBD5E1"/>
            </a:solidFill>
            <a:prstDash val="solid"/>
          </a:ln>
        </p:spPr>
      </p:sp>
      <p:sp>
        <p:nvSpPr>
          <p:cNvPr id="22" name="Text 20"/>
          <p:cNvSpPr/>
          <p:nvPr/>
        </p:nvSpPr>
        <p:spPr>
          <a:xfrm>
            <a:off x="6565392" y="3959352"/>
            <a:ext cx="4434840" cy="201168"/>
          </a:xfrm>
          <a:prstGeom prst="rect">
            <a:avLst/>
          </a:prstGeom>
          <a:noFill/>
          <a:ln/>
        </p:spPr>
        <p:txBody>
          <a:bodyPr wrap="square" rtlCol="0" anchor="ctr"/>
          <a:lstStyle/>
          <a:p>
            <a:pPr indent="0" marL="0">
              <a:buNone/>
            </a:pPr>
            <a:r>
              <a:rPr lang="en-US" sz="900" b="1" dirty="0">
                <a:solidFill>
                  <a:srgbClr val="4F46E5"/>
                </a:solidFill>
                <a:latin typeface="Calibri" pitchFamily="34" charset="0"/>
                <a:ea typeface="Calibri" pitchFamily="34" charset="-122"/>
                <a:cs typeface="Calibri" pitchFamily="34" charset="-120"/>
              </a:rPr>
              <a:t>RAPID BROADCASTING</a:t>
            </a:r>
            <a:endParaRPr lang="en-US" sz="900" dirty="0"/>
          </a:p>
        </p:txBody>
      </p:sp>
      <p:sp>
        <p:nvSpPr>
          <p:cNvPr id="23" name="Text 21"/>
          <p:cNvSpPr/>
          <p:nvPr/>
        </p:nvSpPr>
        <p:spPr>
          <a:xfrm>
            <a:off x="6565392" y="4178808"/>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Multi-Channel Alert &amp; Broadcast Engine</a:t>
            </a:r>
            <a:endParaRPr lang="en-US" sz="1250" dirty="0"/>
          </a:p>
        </p:txBody>
      </p:sp>
      <p:sp>
        <p:nvSpPr>
          <p:cNvPr id="24" name="Text 22"/>
          <p:cNvSpPr/>
          <p:nvPr/>
        </p:nvSpPr>
        <p:spPr>
          <a:xfrm>
            <a:off x="6565392" y="4544568"/>
            <a:ext cx="4434840" cy="1234440"/>
          </a:xfrm>
          <a:prstGeom prst="rect">
            <a:avLst/>
          </a:prstGeom>
          <a:noFill/>
          <a:ln/>
        </p:spPr>
        <p:txBody>
          <a:bodyPr wrap="square" rtlCol="0" anchor="ctr"/>
          <a:lstStyle/>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Instant regional toast alerts with Web Audio two-tone emergency chimes.</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Live Socket.IO bidirectional event broadcasts across all connected dashboards.</a:t>
            </a:r>
            <a:endParaRPr lang="en-US" sz="1000" dirty="0"/>
          </a:p>
          <a:p>
            <a:pPr indent="0" marL="0">
              <a:lnSpc>
                <a:spcPct val="120000"/>
              </a:lnSpc>
              <a:buNone/>
            </a:pPr>
            <a:r>
              <a:rPr lang="en-US" sz="1000" dirty="0">
                <a:solidFill>
                  <a:srgbClr val="1E293B"/>
                </a:solidFill>
                <a:latin typeface="Calibri" pitchFamily="34" charset="0"/>
                <a:ea typeface="Calibri" pitchFamily="34" charset="-122"/>
                <a:cs typeface="Calibri" pitchFamily="34" charset="-120"/>
              </a:rPr>
              <a:t>• Government emergency broadcast banner with strict cryptographic access control.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SCOPE &amp; GOALS</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Project Objectives &amp; Operational Scope</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Clear engineering milestones guiding the implementation and deployment.</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5 of 12</a:t>
            </a:r>
            <a:endParaRPr lang="en-US" sz="900" dirty="0"/>
          </a:p>
        </p:txBody>
      </p:sp>
      <p:sp>
        <p:nvSpPr>
          <p:cNvPr id="9" name="Shape 7"/>
          <p:cNvSpPr/>
          <p:nvPr/>
        </p:nvSpPr>
        <p:spPr>
          <a:xfrm>
            <a:off x="914400" y="1508760"/>
            <a:ext cx="4983480" cy="4480560"/>
          </a:xfrm>
          <a:prstGeom prst="roundRect">
            <a:avLst>
              <a:gd name="adj" fmla="val 1633"/>
            </a:avLst>
          </a:prstGeom>
          <a:solidFill>
            <a:srgbClr val="FFFFFF"/>
          </a:solidFill>
          <a:ln w="15240">
            <a:solidFill>
              <a:srgbClr val="CBD5E1"/>
            </a:solidFill>
            <a:prstDash val="solid"/>
          </a:ln>
        </p:spPr>
      </p:sp>
      <p:sp>
        <p:nvSpPr>
          <p:cNvPr id="10" name="Text 8"/>
          <p:cNvSpPr/>
          <p:nvPr/>
        </p:nvSpPr>
        <p:spPr>
          <a:xfrm>
            <a:off x="1188720" y="1737360"/>
            <a:ext cx="4434840" cy="274320"/>
          </a:xfrm>
          <a:prstGeom prst="rect">
            <a:avLst/>
          </a:prstGeom>
          <a:noFill/>
          <a:ln/>
        </p:spPr>
        <p:txBody>
          <a:bodyPr wrap="square" rtlCol="0" anchor="ctr"/>
          <a:lstStyle/>
          <a:p>
            <a:pPr indent="0" marL="0">
              <a:buNone/>
            </a:pPr>
            <a:r>
              <a:rPr lang="en-US" sz="1300" b="1" dirty="0">
                <a:solidFill>
                  <a:srgbClr val="4F46E5"/>
                </a:solidFill>
                <a:latin typeface="Calibri" pitchFamily="34" charset="0"/>
                <a:ea typeface="Calibri" pitchFamily="34" charset="-122"/>
                <a:cs typeface="Calibri" pitchFamily="34" charset="-120"/>
              </a:rPr>
              <a:t>PRIMARY PROJECT OBJECTIVES</a:t>
            </a:r>
            <a:endParaRPr lang="en-US" sz="1300" dirty="0"/>
          </a:p>
        </p:txBody>
      </p:sp>
      <p:sp>
        <p:nvSpPr>
          <p:cNvPr id="11" name="Text 9"/>
          <p:cNvSpPr/>
          <p:nvPr/>
        </p:nvSpPr>
        <p:spPr>
          <a:xfrm>
            <a:off x="1188720" y="2148840"/>
            <a:ext cx="4434840" cy="3566160"/>
          </a:xfrm>
          <a:prstGeom prst="rect">
            <a:avLst/>
          </a:prstGeom>
          <a:noFill/>
          <a:ln/>
        </p:spPr>
        <p:txBody>
          <a:bodyPr wrap="square" rtlCol="0" anchor="ctr"/>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1. Sub-Second SOS Transmission: Enable distress signal dispatch with automated GPS capture and offline resilience.</a:t>
            </a:r>
            <a:endParaRPr lang="en-US" sz="1050" dirty="0"/>
          </a:p>
          <a:p>
            <a:pPr indent="0" marL="0">
              <a:lnSpc>
                <a:spcPct val="115000"/>
              </a:lnSpc>
              <a:buNone/>
            </a:pP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2. Hybrid Volunteer Dispatching: Empower local citizens to register emergency skills and immediately volunteer to assist nearby victims.</a:t>
            </a:r>
            <a:endParaRPr lang="en-US" sz="1050" dirty="0"/>
          </a:p>
          <a:p>
            <a:pPr indent="0" marL="0">
              <a:lnSpc>
                <a:spcPct val="115000"/>
              </a:lnSpc>
              <a:buNone/>
            </a:pP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3. Spatial Proximity Routing: Calculate real-time geodesic distance between active rescue teams and distress tickets.</a:t>
            </a:r>
            <a:endParaRPr lang="en-US" sz="1050" dirty="0"/>
          </a:p>
          <a:p>
            <a:pPr indent="0" marL="0">
              <a:lnSpc>
                <a:spcPct val="115000"/>
              </a:lnSpc>
              <a:buNone/>
            </a:pP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4. Unified Command Intelligence: Deliver real-time telemetry, SLA auto-escalation (30 min breaches), and shelter occupancy updates to State Disaster Management Authorities.</a:t>
            </a:r>
            <a:endParaRPr lang="en-US" sz="1050" dirty="0"/>
          </a:p>
          <a:p>
            <a:pPr indent="0" marL="0">
              <a:lnSpc>
                <a:spcPct val="115000"/>
              </a:lnSpc>
              <a:buNone/>
            </a:pP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5. Zero Single-Point-of-Failure: Build on scalable Node.js event loops, robust WebSockets, and ACID-compliant relational persistence.</a:t>
            </a:r>
            <a:endParaRPr lang="en-US" sz="1050" dirty="0"/>
          </a:p>
        </p:txBody>
      </p:sp>
      <p:sp>
        <p:nvSpPr>
          <p:cNvPr id="12" name="Shape 10"/>
          <p:cNvSpPr/>
          <p:nvPr/>
        </p:nvSpPr>
        <p:spPr>
          <a:xfrm>
            <a:off x="6291072" y="1508760"/>
            <a:ext cx="4983480" cy="4480560"/>
          </a:xfrm>
          <a:prstGeom prst="roundRect">
            <a:avLst>
              <a:gd name="adj" fmla="val 1633"/>
            </a:avLst>
          </a:prstGeom>
          <a:solidFill>
            <a:srgbClr val="FFFFFF"/>
          </a:solidFill>
          <a:ln w="15240">
            <a:solidFill>
              <a:srgbClr val="CBD5E1"/>
            </a:solidFill>
            <a:prstDash val="solid"/>
          </a:ln>
        </p:spPr>
      </p:sp>
      <p:sp>
        <p:nvSpPr>
          <p:cNvPr id="13" name="Text 11"/>
          <p:cNvSpPr/>
          <p:nvPr/>
        </p:nvSpPr>
        <p:spPr>
          <a:xfrm>
            <a:off x="6565392" y="1737360"/>
            <a:ext cx="4434840" cy="274320"/>
          </a:xfrm>
          <a:prstGeom prst="rect">
            <a:avLst/>
          </a:prstGeom>
          <a:noFill/>
          <a:ln/>
        </p:spPr>
        <p:txBody>
          <a:bodyPr wrap="square"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OPERATIONAL &amp; GEOGRAPHIC SCOPE</a:t>
            </a:r>
            <a:endParaRPr lang="en-US" sz="1300" dirty="0"/>
          </a:p>
        </p:txBody>
      </p:sp>
      <p:sp>
        <p:nvSpPr>
          <p:cNvPr id="14" name="Text 12"/>
          <p:cNvSpPr/>
          <p:nvPr/>
        </p:nvSpPr>
        <p:spPr>
          <a:xfrm>
            <a:off x="6565392" y="2148840"/>
            <a:ext cx="4434840" cy="3566160"/>
          </a:xfrm>
          <a:prstGeom prst="rect">
            <a:avLst/>
          </a:prstGeom>
          <a:noFill/>
          <a:ln/>
        </p:spPr>
        <p:txBody>
          <a:bodyPr wrap="square" rtlCol="0" anchor="ctr"/>
          <a:lstStyle/>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In-Scope Target Stakeholders:</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 Affected Citizens (SOS reporting, shelter locating, volunteer response)</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 Registered Volunteers (Mission claiming, field status updates)</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 Government Command (NDRF/SDRF team dispatch, zone creation)</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 System Administrators (Audit logging, resource tracking)</a:t>
            </a:r>
            <a:endParaRPr lang="en-US" sz="1050" dirty="0"/>
          </a:p>
          <a:p>
            <a:pPr indent="0" marL="0">
              <a:lnSpc>
                <a:spcPct val="115000"/>
              </a:lnSpc>
              <a:buNone/>
            </a:pP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Deployment Target:</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High-density coastal and flood-prone districts across India (e.g. Chennai coastal belt, Cuddalore, Delta regions).</a:t>
            </a:r>
            <a:endParaRPr lang="en-US" sz="1050" dirty="0"/>
          </a:p>
          <a:p>
            <a:pPr indent="0" marL="0">
              <a:lnSpc>
                <a:spcPct val="115000"/>
              </a:lnSpc>
              <a:buNone/>
            </a:pP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Performance Target:</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Support 10,000+ concurrent WebSocket listeners with sub-100ms dispatch latency.</a:t>
            </a:r>
            <a:endParaRPr lang="en-US" sz="1050" dirty="0"/>
          </a:p>
          <a:p>
            <a:pPr indent="0" marL="0">
              <a:lnSpc>
                <a:spcPct val="115000"/>
              </a:lnSpc>
              <a:buNone/>
            </a:pP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Accessibility:</a:t>
            </a:r>
            <a:endParaRPr lang="en-US" sz="1050" dirty="0"/>
          </a:p>
          <a:p>
            <a:pPr indent="0" marL="0">
              <a:lnSpc>
                <a:spcPct val="115000"/>
              </a:lnSpc>
              <a:buNone/>
            </a:pPr>
            <a:r>
              <a:rPr lang="en-US" sz="1050" dirty="0">
                <a:solidFill>
                  <a:srgbClr val="1E293B"/>
                </a:solidFill>
                <a:latin typeface="Calibri" pitchFamily="34" charset="0"/>
                <a:ea typeface="Calibri" pitchFamily="34" charset="-122"/>
                <a:cs typeface="Calibri" pitchFamily="34" charset="-120"/>
              </a:rPr>
              <a:t>  Fully responsive progressive web client functioning on mobile smartphones, tablets, and command desktop video-walls.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RESEARCH BACKGROUND</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Literature Survey &amp; Competitive Comparison</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Benchmarking ReliefLink against established global and domestic disaster frameworks.</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6 of 12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14400" y="1508760"/>
          <a:ext cx="10362895" cy="4480560"/>
        </p:xfrm>
        <a:graphic>
          <a:graphicData uri="http://schemas.openxmlformats.org/drawingml/2006/table">
            <a:tbl>
              <a:tblPr/>
              <a:tblGrid>
                <a:gridCol w="2316175"/>
                <a:gridCol w="2011680"/>
                <a:gridCol w="2011680"/>
                <a:gridCol w="2011680"/>
                <a:gridCol w="2011680"/>
              </a:tblGrid>
              <a:tr h="640080">
                <a:tc>
                  <a:txBody>
                    <a:bodyPr/>
                    <a:lstStyle/>
                    <a:p>
                      <a:pPr algn="ctr" indent="0" marL="0">
                        <a:buNone/>
                      </a:pPr>
                      <a:r>
                        <a:rPr lang="en-US" sz="1000" b="1" dirty="0">
                          <a:solidFill>
                            <a:srgbClr val="FFFFFF"/>
                          </a:solidFill>
                        </a:rPr>
                        <a:t>Feature / Capability</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rPr>
                        <a:t>Traditional Helplines (112)</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rPr>
                        <a:t>Social Media / WhatsApp</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rPr>
                        <a:t>Sahana Eden / Ushahidi</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000" b="1" dirty="0">
                          <a:solidFill>
                            <a:srgbClr val="FFFFFF"/>
                          </a:solidFill>
                        </a:rPr>
                        <a:t>ReliefLink (Proposed)</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F46E5"/>
                    </a:solidFill>
                  </a:tcPr>
                </a:tc>
              </a:tr>
              <a:tr h="640080">
                <a:tc>
                  <a:txBody>
                    <a:bodyPr/>
                    <a:lstStyle/>
                    <a:p>
                      <a:pPr algn="ctr" indent="0" marL="0">
                        <a:buNone/>
                      </a:pPr>
                      <a:r>
                        <a:rPr lang="en-US" sz="1000" b="1" dirty="0">
                          <a:solidFill>
                            <a:srgbClr val="000000"/>
                          </a:solidFill>
                        </a:rPr>
                        <a:t>Real-Time Spatial Map</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 (Voice Only)</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 (Unstructured Text)</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Partial / Static</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rPr>
                        <a:t>Live Interactive (OSM)</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ctr" indent="0" marL="0">
                        <a:buNone/>
                      </a:pPr>
                      <a:r>
                        <a:rPr lang="en-US" sz="1000" b="1" dirty="0">
                          <a:solidFill>
                            <a:srgbClr val="000000"/>
                          </a:solidFill>
                        </a:rPr>
                        <a:t>Citizen "I Will Go" Hybrid Model</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Not Supported</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Chaotic / Uncoordinated</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Separate Registration</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rPr>
                        <a:t>Native 1-Click Response</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ctr" indent="0" marL="0">
                        <a:buNone/>
                      </a:pPr>
                      <a:r>
                        <a:rPr lang="en-US" sz="1000" b="1" dirty="0">
                          <a:solidFill>
                            <a:srgbClr val="000000"/>
                          </a:solidFill>
                        </a:rPr>
                        <a:t>Official Rescue Team Proximity Dispatch</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Manual Radio Relay</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Not Supported</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Manual Backoffice</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rPr>
                        <a:t>Automated Geodesic Ranking</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ctr" indent="0" marL="0">
                        <a:buNone/>
                      </a:pPr>
                      <a:r>
                        <a:rPr lang="en-US" sz="1000" b="1" dirty="0">
                          <a:solidFill>
                            <a:srgbClr val="000000"/>
                          </a:solidFill>
                        </a:rPr>
                        <a:t>Automated SLA Escalation</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Basic Ticketing</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rPr>
                        <a:t>Yes (30-min SLA timer)</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ctr" indent="0" marL="0">
                        <a:buNone/>
                      </a:pPr>
                      <a:r>
                        <a:rPr lang="en-US" sz="1000" b="1" dirty="0">
                          <a:solidFill>
                            <a:srgbClr val="000000"/>
                          </a:solidFill>
                        </a:rPr>
                        <a:t>Regional Auditory Toast Alerts</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App Notifications Only</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No</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rPr>
                        <a:t>Web Audio API Chime + Toasts</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ctr" indent="0" marL="0">
                        <a:buNone/>
                      </a:pPr>
                      <a:r>
                        <a:rPr lang="en-US" sz="1000" b="1" dirty="0">
                          <a:solidFill>
                            <a:srgbClr val="000000"/>
                          </a:solidFill>
                        </a:rPr>
                        <a:t>Live Shelter Occupancy Sync</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Manual phone check</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Crowdsourced / Stale</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rPr>
                        <a:t>Periodic batch sync</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59669"/>
                          </a:solidFill>
                        </a:rPr>
                        <a:t>Instant WebSocket broadcast</a:t>
                      </a:r>
                      <a:endParaRPr lang="en-US" sz="100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SYSTEM DESIGN</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System Architecture &amp; Real-Time Flow</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End-to-end multi-tier architecture with decoupled reactive layers.</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7 of 12</a:t>
            </a:r>
            <a:endParaRPr lang="en-US" sz="900" dirty="0"/>
          </a:p>
        </p:txBody>
      </p:sp>
      <p:sp>
        <p:nvSpPr>
          <p:cNvPr id="9" name="Shape 7"/>
          <p:cNvSpPr/>
          <p:nvPr/>
        </p:nvSpPr>
        <p:spPr>
          <a:xfrm>
            <a:off x="914400" y="1508760"/>
            <a:ext cx="2404872" cy="4480560"/>
          </a:xfrm>
          <a:prstGeom prst="roundRect">
            <a:avLst>
              <a:gd name="adj" fmla="val 3042"/>
            </a:avLst>
          </a:prstGeom>
          <a:solidFill>
            <a:srgbClr val="EEF2FF"/>
          </a:solidFill>
          <a:ln w="19050">
            <a:solidFill>
              <a:srgbClr val="6366F1"/>
            </a:solidFill>
            <a:prstDash val="solid"/>
          </a:ln>
        </p:spPr>
      </p:sp>
      <p:sp>
        <p:nvSpPr>
          <p:cNvPr id="10" name="Text 8"/>
          <p:cNvSpPr/>
          <p:nvPr/>
        </p:nvSpPr>
        <p:spPr>
          <a:xfrm>
            <a:off x="1078992" y="1691640"/>
            <a:ext cx="2075688"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TIER 1: CLIENT PRESENTATION</a:t>
            </a:r>
            <a:endParaRPr lang="en-US" sz="850" dirty="0"/>
          </a:p>
        </p:txBody>
      </p:sp>
      <p:sp>
        <p:nvSpPr>
          <p:cNvPr id="11" name="Text 9"/>
          <p:cNvSpPr/>
          <p:nvPr/>
        </p:nvSpPr>
        <p:spPr>
          <a:xfrm>
            <a:off x="1078992" y="2029968"/>
            <a:ext cx="2075688" cy="4572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Multi-Role SPA Dashboard</a:t>
            </a:r>
            <a:endParaRPr lang="en-US" sz="1200" dirty="0"/>
          </a:p>
        </p:txBody>
      </p:sp>
      <p:sp>
        <p:nvSpPr>
          <p:cNvPr id="12" name="Text 10"/>
          <p:cNvSpPr/>
          <p:nvPr/>
        </p:nvSpPr>
        <p:spPr>
          <a:xfrm>
            <a:off x="1078992" y="2606040"/>
            <a:ext cx="2075688" cy="3200400"/>
          </a:xfrm>
          <a:prstGeom prst="rect">
            <a:avLst/>
          </a:prstGeom>
          <a:noFill/>
          <a:ln/>
        </p:spPr>
        <p:txBody>
          <a:bodyPr wrap="square" rtlCol="0" anchor="ctr"/>
          <a:lstStyle/>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React 18 + TypeScript</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Tailwind CSS Design System</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Leaflet GIS Engine</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Web Audio API Synthesizer</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Geolocation Watcher API</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Responsive Mobile View</a:t>
            </a:r>
            <a:endParaRPr lang="en-US" sz="1000" dirty="0"/>
          </a:p>
        </p:txBody>
      </p:sp>
      <p:sp>
        <p:nvSpPr>
          <p:cNvPr id="13" name="Shape 11"/>
          <p:cNvSpPr/>
          <p:nvPr/>
        </p:nvSpPr>
        <p:spPr>
          <a:xfrm>
            <a:off x="3566160" y="1508760"/>
            <a:ext cx="2404872" cy="4480560"/>
          </a:xfrm>
          <a:prstGeom prst="roundRect">
            <a:avLst>
              <a:gd name="adj" fmla="val 3042"/>
            </a:avLst>
          </a:prstGeom>
          <a:solidFill>
            <a:srgbClr val="FEF3C7"/>
          </a:solidFill>
          <a:ln w="19050">
            <a:solidFill>
              <a:srgbClr val="F59E0B"/>
            </a:solidFill>
            <a:prstDash val="solid"/>
          </a:ln>
        </p:spPr>
      </p:sp>
      <p:sp>
        <p:nvSpPr>
          <p:cNvPr id="14" name="Text 12"/>
          <p:cNvSpPr/>
          <p:nvPr/>
        </p:nvSpPr>
        <p:spPr>
          <a:xfrm>
            <a:off x="3730752" y="1691640"/>
            <a:ext cx="2075688"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TIER 2: REAL-TIME EVENT BUS</a:t>
            </a:r>
            <a:endParaRPr lang="en-US" sz="850" dirty="0"/>
          </a:p>
        </p:txBody>
      </p:sp>
      <p:sp>
        <p:nvSpPr>
          <p:cNvPr id="15" name="Text 13"/>
          <p:cNvSpPr/>
          <p:nvPr/>
        </p:nvSpPr>
        <p:spPr>
          <a:xfrm>
            <a:off x="3730752" y="2029968"/>
            <a:ext cx="2075688" cy="4572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Socket.IO Hub &amp; Rooms</a:t>
            </a:r>
            <a:endParaRPr lang="en-US" sz="1200" dirty="0"/>
          </a:p>
        </p:txBody>
      </p:sp>
      <p:sp>
        <p:nvSpPr>
          <p:cNvPr id="16" name="Text 14"/>
          <p:cNvSpPr/>
          <p:nvPr/>
        </p:nvSpPr>
        <p:spPr>
          <a:xfrm>
            <a:off x="3730752" y="2606040"/>
            <a:ext cx="2075688" cy="3200400"/>
          </a:xfrm>
          <a:prstGeom prst="rect">
            <a:avLst/>
          </a:prstGeom>
          <a:noFill/>
          <a:ln/>
        </p:spPr>
        <p:txBody>
          <a:bodyPr wrap="square" rtlCol="0" anchor="ctr"/>
          <a:lstStyle/>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Real-Time Event Dispatch</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Room Clustering by Sector</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Heartbeat / Liveness Ping</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Reconnection Handlers</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Instant SOS Broadcasts</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Sub-100ms Latency</a:t>
            </a:r>
            <a:endParaRPr lang="en-US" sz="1000" dirty="0"/>
          </a:p>
        </p:txBody>
      </p:sp>
      <p:sp>
        <p:nvSpPr>
          <p:cNvPr id="17" name="Shape 15"/>
          <p:cNvSpPr/>
          <p:nvPr/>
        </p:nvSpPr>
        <p:spPr>
          <a:xfrm>
            <a:off x="6217920" y="1508760"/>
            <a:ext cx="2404872" cy="4480560"/>
          </a:xfrm>
          <a:prstGeom prst="roundRect">
            <a:avLst>
              <a:gd name="adj" fmla="val 3042"/>
            </a:avLst>
          </a:prstGeom>
          <a:solidFill>
            <a:srgbClr val="ECFDF5"/>
          </a:solidFill>
          <a:ln w="19050">
            <a:solidFill>
              <a:srgbClr val="10B981"/>
            </a:solidFill>
            <a:prstDash val="solid"/>
          </a:ln>
        </p:spPr>
      </p:sp>
      <p:sp>
        <p:nvSpPr>
          <p:cNvPr id="18" name="Text 16"/>
          <p:cNvSpPr/>
          <p:nvPr/>
        </p:nvSpPr>
        <p:spPr>
          <a:xfrm>
            <a:off x="6382512" y="1691640"/>
            <a:ext cx="2075688"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TIER 3: APPLICATION SERVICES</a:t>
            </a:r>
            <a:endParaRPr lang="en-US" sz="850" dirty="0"/>
          </a:p>
        </p:txBody>
      </p:sp>
      <p:sp>
        <p:nvSpPr>
          <p:cNvPr id="19" name="Text 17"/>
          <p:cNvSpPr/>
          <p:nvPr/>
        </p:nvSpPr>
        <p:spPr>
          <a:xfrm>
            <a:off x="6382512" y="2029968"/>
            <a:ext cx="2075688" cy="4572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Express REST &amp; Dispatcher</a:t>
            </a:r>
            <a:endParaRPr lang="en-US" sz="1200" dirty="0"/>
          </a:p>
        </p:txBody>
      </p:sp>
      <p:sp>
        <p:nvSpPr>
          <p:cNvPr id="20" name="Text 18"/>
          <p:cNvSpPr/>
          <p:nvPr/>
        </p:nvSpPr>
        <p:spPr>
          <a:xfrm>
            <a:off x="6382512" y="2606040"/>
            <a:ext cx="2075688" cy="3200400"/>
          </a:xfrm>
          <a:prstGeom prst="rect">
            <a:avLst/>
          </a:prstGeom>
          <a:noFill/>
          <a:ln/>
        </p:spPr>
        <p:txBody>
          <a:bodyPr wrap="square" rtlCol="0" anchor="ctr"/>
          <a:lstStyle/>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JWT RBAC Middleware</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Haversine Spatial Ranker</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SLA Escalation Daemon</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Rescue Dispatch Engine</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Broadcast Controller</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Rate-Limiting Security</a:t>
            </a:r>
            <a:endParaRPr lang="en-US" sz="1000" dirty="0"/>
          </a:p>
        </p:txBody>
      </p:sp>
      <p:sp>
        <p:nvSpPr>
          <p:cNvPr id="21" name="Shape 19"/>
          <p:cNvSpPr/>
          <p:nvPr/>
        </p:nvSpPr>
        <p:spPr>
          <a:xfrm>
            <a:off x="8869680" y="1508760"/>
            <a:ext cx="2404872" cy="4480560"/>
          </a:xfrm>
          <a:prstGeom prst="roundRect">
            <a:avLst>
              <a:gd name="adj" fmla="val 3042"/>
            </a:avLst>
          </a:prstGeom>
          <a:solidFill>
            <a:srgbClr val="F1F5F9"/>
          </a:solidFill>
          <a:ln w="19050">
            <a:solidFill>
              <a:srgbClr val="64748B"/>
            </a:solidFill>
            <a:prstDash val="solid"/>
          </a:ln>
        </p:spPr>
      </p:sp>
      <p:sp>
        <p:nvSpPr>
          <p:cNvPr id="22" name="Text 20"/>
          <p:cNvSpPr/>
          <p:nvPr/>
        </p:nvSpPr>
        <p:spPr>
          <a:xfrm>
            <a:off x="9034272" y="1691640"/>
            <a:ext cx="2075688" cy="320040"/>
          </a:xfrm>
          <a:prstGeom prst="rect">
            <a:avLst/>
          </a:prstGeom>
          <a:noFill/>
          <a:ln/>
        </p:spPr>
        <p:txBody>
          <a:bodyPr wrap="square" rtlCol="0" anchor="ctr"/>
          <a:lstStyle/>
          <a:p>
            <a:pPr indent="0" marL="0">
              <a:buNone/>
            </a:pPr>
            <a:r>
              <a:rPr lang="en-US" sz="850" b="1" dirty="0">
                <a:solidFill>
                  <a:srgbClr val="0F172A"/>
                </a:solidFill>
                <a:latin typeface="Calibri" pitchFamily="34" charset="0"/>
                <a:ea typeface="Calibri" pitchFamily="34" charset="-122"/>
                <a:cs typeface="Calibri" pitchFamily="34" charset="-120"/>
              </a:rPr>
              <a:t>TIER 4: DATA &amp; PERSISTENCE</a:t>
            </a:r>
            <a:endParaRPr lang="en-US" sz="850" dirty="0"/>
          </a:p>
        </p:txBody>
      </p:sp>
      <p:sp>
        <p:nvSpPr>
          <p:cNvPr id="23" name="Text 21"/>
          <p:cNvSpPr/>
          <p:nvPr/>
        </p:nvSpPr>
        <p:spPr>
          <a:xfrm>
            <a:off x="9034272" y="2029968"/>
            <a:ext cx="2075688" cy="45720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PostgreSQL Relational DB</a:t>
            </a:r>
            <a:endParaRPr lang="en-US" sz="1200" dirty="0"/>
          </a:p>
        </p:txBody>
      </p:sp>
      <p:sp>
        <p:nvSpPr>
          <p:cNvPr id="24" name="Text 22"/>
          <p:cNvSpPr/>
          <p:nvPr/>
        </p:nvSpPr>
        <p:spPr>
          <a:xfrm>
            <a:off x="9034272" y="2606040"/>
            <a:ext cx="2075688" cy="3200400"/>
          </a:xfrm>
          <a:prstGeom prst="rect">
            <a:avLst/>
          </a:prstGeom>
          <a:noFill/>
          <a:ln/>
        </p:spPr>
        <p:txBody>
          <a:bodyPr wrap="square" rtlCol="0" anchor="ctr"/>
          <a:lstStyle/>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Distress Requests Schema</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Users &amp; Volunteer Profiles</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Rescue Teams Registry</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Relief Centers &amp; Occupancy</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Hazard Zones Geometries</a:t>
            </a:r>
            <a:endParaRPr lang="en-US" sz="1000" dirty="0"/>
          </a:p>
          <a:p>
            <a:pPr indent="0" marL="0">
              <a:lnSpc>
                <a:spcPct val="125000"/>
              </a:lnSpc>
              <a:buNone/>
            </a:pPr>
            <a:r>
              <a:rPr lang="en-US" sz="1000" dirty="0">
                <a:solidFill>
                  <a:srgbClr val="1E293B"/>
                </a:solidFill>
                <a:latin typeface="Calibri" pitchFamily="34" charset="0"/>
                <a:ea typeface="Calibri" pitchFamily="34" charset="-122"/>
                <a:cs typeface="Calibri" pitchFamily="34" charset="-120"/>
              </a:rPr>
              <a:t>• ACID Transaction Safety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FUNCTIONAL DECOMPOSITION</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Core System Modules Description</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Granular overview of the functional modules comprising the ReliefLink platform.</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8 of 12</a:t>
            </a:r>
            <a:endParaRPr lang="en-US" sz="900" dirty="0"/>
          </a:p>
        </p:txBody>
      </p:sp>
      <p:sp>
        <p:nvSpPr>
          <p:cNvPr id="9" name="Shape 7"/>
          <p:cNvSpPr/>
          <p:nvPr/>
        </p:nvSpPr>
        <p:spPr>
          <a:xfrm>
            <a:off x="914400" y="1508760"/>
            <a:ext cx="4983480" cy="2103120"/>
          </a:xfrm>
          <a:prstGeom prst="roundRect">
            <a:avLst>
              <a:gd name="adj" fmla="val 3478"/>
            </a:avLst>
          </a:prstGeom>
          <a:solidFill>
            <a:srgbClr val="FFFFFF"/>
          </a:solidFill>
          <a:ln w="15240">
            <a:solidFill>
              <a:srgbClr val="CBD5E1"/>
            </a:solidFill>
            <a:prstDash val="solid"/>
          </a:ln>
        </p:spPr>
      </p:sp>
      <p:sp>
        <p:nvSpPr>
          <p:cNvPr id="10" name="Text 8"/>
          <p:cNvSpPr/>
          <p:nvPr/>
        </p:nvSpPr>
        <p:spPr>
          <a:xfrm>
            <a:off x="1188720" y="1691640"/>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Module 1: Citizen SOS &amp; Distress Reporting</a:t>
            </a:r>
            <a:endParaRPr lang="en-US" sz="1250" dirty="0"/>
          </a:p>
        </p:txBody>
      </p:sp>
      <p:sp>
        <p:nvSpPr>
          <p:cNvPr id="11" name="Text 9"/>
          <p:cNvSpPr/>
          <p:nvPr/>
        </p:nvSpPr>
        <p:spPr>
          <a:xfrm>
            <a:off x="1188720" y="2103120"/>
            <a:ext cx="4434840" cy="132588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Enables distress victims to submit emergency requests in 3 clicks. Automatically captures high-accuracy GPS coordinates, emergency type (RESCUE, MEDICAL, FOOD, SHELTER), number of affected persons, and landmark descriptions. Features live tracking of submitted tickets.</a:t>
            </a:r>
            <a:endParaRPr lang="en-US" sz="1050" dirty="0"/>
          </a:p>
        </p:txBody>
      </p:sp>
      <p:sp>
        <p:nvSpPr>
          <p:cNvPr id="12" name="Shape 10"/>
          <p:cNvSpPr/>
          <p:nvPr/>
        </p:nvSpPr>
        <p:spPr>
          <a:xfrm>
            <a:off x="6291072" y="1508760"/>
            <a:ext cx="4983480" cy="2103120"/>
          </a:xfrm>
          <a:prstGeom prst="roundRect">
            <a:avLst>
              <a:gd name="adj" fmla="val 3478"/>
            </a:avLst>
          </a:prstGeom>
          <a:solidFill>
            <a:srgbClr val="FFFFFF"/>
          </a:solidFill>
          <a:ln w="15240">
            <a:solidFill>
              <a:srgbClr val="CBD5E1"/>
            </a:solidFill>
            <a:prstDash val="solid"/>
          </a:ln>
        </p:spPr>
      </p:sp>
      <p:sp>
        <p:nvSpPr>
          <p:cNvPr id="13" name="Text 11"/>
          <p:cNvSpPr/>
          <p:nvPr/>
        </p:nvSpPr>
        <p:spPr>
          <a:xfrm>
            <a:off x="6565392" y="1691640"/>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Module 2: Community Citizen-Volunteer Hybrid Engine</a:t>
            </a:r>
            <a:endParaRPr lang="en-US" sz="1250" dirty="0"/>
          </a:p>
        </p:txBody>
      </p:sp>
      <p:sp>
        <p:nvSpPr>
          <p:cNvPr id="14" name="Text 12"/>
          <p:cNvSpPr/>
          <p:nvPr/>
        </p:nvSpPr>
        <p:spPr>
          <a:xfrm>
            <a:off x="6565392" y="2103120"/>
            <a:ext cx="4434840" cy="132588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Eliminates barriers between citizens and volunteers. Any registered citizen can edit their volunteer skill set (medical, boating, 4x4 vehicle) and click "I Will Go and Help" on nearby emergency tickets. Synchronizes response ETA and phone directly to Government Command.</a:t>
            </a:r>
            <a:endParaRPr lang="en-US" sz="1050" dirty="0"/>
          </a:p>
        </p:txBody>
      </p:sp>
      <p:sp>
        <p:nvSpPr>
          <p:cNvPr id="15" name="Shape 13"/>
          <p:cNvSpPr/>
          <p:nvPr/>
        </p:nvSpPr>
        <p:spPr>
          <a:xfrm>
            <a:off x="914400" y="3794760"/>
            <a:ext cx="4983480" cy="2103120"/>
          </a:xfrm>
          <a:prstGeom prst="roundRect">
            <a:avLst>
              <a:gd name="adj" fmla="val 3478"/>
            </a:avLst>
          </a:prstGeom>
          <a:solidFill>
            <a:srgbClr val="FFFFFF"/>
          </a:solidFill>
          <a:ln w="15240">
            <a:solidFill>
              <a:srgbClr val="CBD5E1"/>
            </a:solidFill>
            <a:prstDash val="solid"/>
          </a:ln>
        </p:spPr>
      </p:sp>
      <p:sp>
        <p:nvSpPr>
          <p:cNvPr id="16" name="Text 14"/>
          <p:cNvSpPr/>
          <p:nvPr/>
        </p:nvSpPr>
        <p:spPr>
          <a:xfrm>
            <a:off x="1188720" y="3977640"/>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Module 3: Government Command Room &amp; Rapid Force Dispatch</a:t>
            </a:r>
            <a:endParaRPr lang="en-US" sz="1250" dirty="0"/>
          </a:p>
        </p:txBody>
      </p:sp>
      <p:sp>
        <p:nvSpPr>
          <p:cNvPr id="17" name="Text 15"/>
          <p:cNvSpPr/>
          <p:nvPr/>
        </p:nvSpPr>
        <p:spPr>
          <a:xfrm>
            <a:off x="1188720" y="4389120"/>
            <a:ext cx="4434840" cy="132588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Provides State Disaster Management Authorities with real-time incident triage, automated 30-minute SLA escalations, coverage gap analyzers, and proximity-sorted NDRF/SDRF rescue unit dispatching. Directs official backup to unbacked citizen volunteers.</a:t>
            </a:r>
            <a:endParaRPr lang="en-US" sz="1050" dirty="0"/>
          </a:p>
        </p:txBody>
      </p:sp>
      <p:sp>
        <p:nvSpPr>
          <p:cNvPr id="18" name="Shape 16"/>
          <p:cNvSpPr/>
          <p:nvPr/>
        </p:nvSpPr>
        <p:spPr>
          <a:xfrm>
            <a:off x="6291072" y="3794760"/>
            <a:ext cx="4983480" cy="2103120"/>
          </a:xfrm>
          <a:prstGeom prst="roundRect">
            <a:avLst>
              <a:gd name="adj" fmla="val 3478"/>
            </a:avLst>
          </a:prstGeom>
          <a:solidFill>
            <a:srgbClr val="FFFFFF"/>
          </a:solidFill>
          <a:ln w="15240">
            <a:solidFill>
              <a:srgbClr val="CBD5E1"/>
            </a:solidFill>
            <a:prstDash val="solid"/>
          </a:ln>
        </p:spPr>
      </p:sp>
      <p:sp>
        <p:nvSpPr>
          <p:cNvPr id="19" name="Text 17"/>
          <p:cNvSpPr/>
          <p:nvPr/>
        </p:nvSpPr>
        <p:spPr>
          <a:xfrm>
            <a:off x="6565392" y="3977640"/>
            <a:ext cx="4434840" cy="347472"/>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Module 4: Spatial GIS Tactical Map &amp; Regional Alerts</a:t>
            </a:r>
            <a:endParaRPr lang="en-US" sz="1250" dirty="0"/>
          </a:p>
        </p:txBody>
      </p:sp>
      <p:sp>
        <p:nvSpPr>
          <p:cNvPr id="20" name="Text 18"/>
          <p:cNvSpPr/>
          <p:nvPr/>
        </p:nvSpPr>
        <p:spPr>
          <a:xfrm>
            <a:off x="6565392" y="4389120"/>
            <a:ext cx="4434840" cy="132588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Full-screen OpenStreetMap interface rendering live clusters of distress signals, relief hubs, field responders, and dynamic evacuation perimeters. Integrated with regional toast alerts and Web Audio two-tone emergency auditory chimes.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SYSTEM SPECIFICATIONS</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Hardware &amp; Software Requirements</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Comprehensive technology stack and infrastructure dependencies.</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9 of 12</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14400" y="1508760"/>
          <a:ext cx="6400800" cy="4480560"/>
        </p:xfrm>
        <a:graphic>
          <a:graphicData uri="http://schemas.openxmlformats.org/drawingml/2006/table">
            <a:tbl>
              <a:tblPr/>
              <a:tblGrid>
                <a:gridCol w="1645920"/>
                <a:gridCol w="2286000"/>
                <a:gridCol w="2468880"/>
              </a:tblGrid>
              <a:tr h="640080">
                <a:tc>
                  <a:txBody>
                    <a:bodyPr/>
                    <a:lstStyle/>
                    <a:p>
                      <a:pPr algn="l" indent="0" marL="0">
                        <a:buNone/>
                      </a:pPr>
                      <a:r>
                        <a:rPr lang="en-US" sz="950" b="1" dirty="0">
                          <a:solidFill>
                            <a:srgbClr val="FFFFFF"/>
                          </a:solidFill>
                        </a:rPr>
                        <a:t>Component</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F46E5"/>
                    </a:solidFill>
                  </a:tcPr>
                </a:tc>
                <a:tc>
                  <a:txBody>
                    <a:bodyPr/>
                    <a:lstStyle/>
                    <a:p>
                      <a:pPr algn="l" indent="0" marL="0">
                        <a:buNone/>
                      </a:pPr>
                      <a:r>
                        <a:rPr lang="en-US" sz="950" b="1" dirty="0">
                          <a:solidFill>
                            <a:srgbClr val="FFFFFF"/>
                          </a:solidFill>
                        </a:rPr>
                        <a:t>Technology / Library</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F46E5"/>
                    </a:solidFill>
                  </a:tcPr>
                </a:tc>
                <a:tc>
                  <a:txBody>
                    <a:bodyPr/>
                    <a:lstStyle/>
                    <a:p>
                      <a:pPr algn="l" indent="0" marL="0">
                        <a:buNone/>
                      </a:pPr>
                      <a:r>
                        <a:rPr lang="en-US" sz="950" b="1" dirty="0">
                          <a:solidFill>
                            <a:srgbClr val="FFFFFF"/>
                          </a:solidFill>
                        </a:rPr>
                        <a:t>Role &amp; Functionality</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4F46E5"/>
                    </a:solidFill>
                  </a:tcPr>
                </a:tc>
              </a:tr>
              <a:tr h="640080">
                <a:tc>
                  <a:txBody>
                    <a:bodyPr/>
                    <a:lstStyle/>
                    <a:p>
                      <a:pPr algn="l" indent="0" marL="0">
                        <a:buNone/>
                      </a:pPr>
                      <a:r>
                        <a:rPr lang="en-US" sz="950" b="1" dirty="0">
                          <a:solidFill>
                            <a:srgbClr val="000000"/>
                          </a:solidFill>
                        </a:rPr>
                        <a:t>Frontend UI</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React 18, TypeScript, Tailwind CSS</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Type-safe reactive dashboard with responsive layouts</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buNone/>
                      </a:pPr>
                      <a:r>
                        <a:rPr lang="en-US" sz="950" b="1" dirty="0">
                          <a:solidFill>
                            <a:srgbClr val="000000"/>
                          </a:solidFill>
                        </a:rPr>
                        <a:t>Mapping &amp; GIS</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Leaflet.js + OpenStreetMap</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Interactive markers, hazard geofences, tactical zoom</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buNone/>
                      </a:pPr>
                      <a:r>
                        <a:rPr lang="en-US" sz="950" b="1" dirty="0">
                          <a:solidFill>
                            <a:srgbClr val="000000"/>
                          </a:solidFill>
                        </a:rPr>
                        <a:t>Backend Server</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Node.js, Express.js</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REST API, Haversine geospatial proximity engine</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buNone/>
                      </a:pPr>
                      <a:r>
                        <a:rPr lang="en-US" sz="950" b="1" dirty="0">
                          <a:solidFill>
                            <a:srgbClr val="000000"/>
                          </a:solidFill>
                        </a:rPr>
                        <a:t>Real-Time Sync</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Socket.IO (WebSockets)</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Sub-second event propagation, regional broadcasts</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buNone/>
                      </a:pPr>
                      <a:r>
                        <a:rPr lang="en-US" sz="950" b="1" dirty="0">
                          <a:solidFill>
                            <a:srgbClr val="000000"/>
                          </a:solidFill>
                        </a:rPr>
                        <a:t>Database</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PostgreSQL</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ACID-compliant storage for users, tickets, and teams</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640080">
                <a:tc>
                  <a:txBody>
                    <a:bodyPr/>
                    <a:lstStyle/>
                    <a:p>
                      <a:pPr algn="l" indent="0" marL="0">
                        <a:buNone/>
                      </a:pPr>
                      <a:r>
                        <a:rPr lang="en-US" sz="950" b="1" dirty="0">
                          <a:solidFill>
                            <a:srgbClr val="000000"/>
                          </a:solidFill>
                        </a:rPr>
                        <a:t>Security &amp; Auth</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JWT + bcrypt</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rPr>
                        <a:t>Role-Based Access Control (CITIZEN, VOLUNTEER, GOV, ADMIN)</a:t>
                      </a:r>
                      <a:endParaRPr lang="en-US" sz="950" dirty="0"/>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7"/>
          <p:cNvSpPr/>
          <p:nvPr/>
        </p:nvSpPr>
        <p:spPr>
          <a:xfrm>
            <a:off x="7571232" y="1508760"/>
            <a:ext cx="3703320" cy="4480560"/>
          </a:xfrm>
          <a:prstGeom prst="roundRect">
            <a:avLst>
              <a:gd name="adj" fmla="val 1975"/>
            </a:avLst>
          </a:prstGeom>
          <a:solidFill>
            <a:srgbClr val="FFFFFF"/>
          </a:solidFill>
          <a:ln w="15240">
            <a:solidFill>
              <a:srgbClr val="CBD5E1"/>
            </a:solidFill>
            <a:prstDash val="solid"/>
          </a:ln>
        </p:spPr>
      </p:sp>
      <p:sp>
        <p:nvSpPr>
          <p:cNvPr id="11" name="Text 8"/>
          <p:cNvSpPr/>
          <p:nvPr/>
        </p:nvSpPr>
        <p:spPr>
          <a:xfrm>
            <a:off x="7818120" y="1737360"/>
            <a:ext cx="3200400" cy="274320"/>
          </a:xfrm>
          <a:prstGeom prst="rect">
            <a:avLst/>
          </a:prstGeom>
          <a:noFill/>
          <a:ln/>
        </p:spPr>
        <p:txBody>
          <a:bodyPr wrap="square"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HARDWARE SPECIFICATIONS</a:t>
            </a:r>
            <a:endParaRPr lang="en-US" sz="1200" dirty="0"/>
          </a:p>
        </p:txBody>
      </p:sp>
      <p:sp>
        <p:nvSpPr>
          <p:cNvPr id="12" name="Text 9"/>
          <p:cNvSpPr/>
          <p:nvPr/>
        </p:nvSpPr>
        <p:spPr>
          <a:xfrm>
            <a:off x="7818120" y="2148840"/>
            <a:ext cx="3200400" cy="3566160"/>
          </a:xfrm>
          <a:prstGeom prst="rect">
            <a:avLst/>
          </a:prstGeom>
          <a:noFill/>
          <a:ln/>
        </p:spPr>
        <p:txBody>
          <a:bodyPr wrap="square" rtlCol="0" anchor="ctr"/>
          <a:lstStyle/>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Server Node (Deployment):</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Processor: 4-Core vCPU (2.4 GHz+)</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RAM: 8 GB DDR4 minimum</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Storage: 100 GB SSD (NVMe preferred)</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Network: 1 Gbps high-availability link</a:t>
            </a:r>
            <a:endParaRPr lang="en-US" sz="1000" dirty="0"/>
          </a:p>
          <a:p>
            <a:pPr indent="0" marL="0">
              <a:lnSpc>
                <a:spcPct val="115000"/>
              </a:lnSpc>
              <a:buNone/>
            </a:pP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Client Device (Citizens / Volunteers):</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Any smartphone / tablet with modern browser (Chrome / Safari / Firefox)</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Built-in GPS chip with location accuracy within 10 meters</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- 3G / 4G / 5G / Broadband connectivity</a:t>
            </a:r>
            <a:endParaRPr lang="en-US" sz="1000" dirty="0"/>
          </a:p>
          <a:p>
            <a:pPr indent="0" marL="0">
              <a:lnSpc>
                <a:spcPct val="115000"/>
              </a:lnSpc>
              <a:buNone/>
            </a:pP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Government Command Center:</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Multi-monitor workstation / Video wall</a:t>
            </a:r>
            <a:endParaRPr lang="en-US" sz="1000" dirty="0"/>
          </a:p>
          <a:p>
            <a:pPr indent="0" marL="0">
              <a:lnSpc>
                <a:spcPct val="115000"/>
              </a:lnSpc>
              <a:buNone/>
            </a:pPr>
            <a:r>
              <a:rPr lang="en-US" sz="1000" dirty="0">
                <a:solidFill>
                  <a:srgbClr val="1E293B"/>
                </a:solidFill>
                <a:latin typeface="Calibri" pitchFamily="34" charset="0"/>
                <a:ea typeface="Calibri" pitchFamily="34" charset="-122"/>
                <a:cs typeface="Calibri" pitchFamily="34" charset="-120"/>
              </a:rPr>
              <a:t>  - Display Resolution: 1080p Full HD or 4K UHD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PROJECT ROADMAP</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Work Plan &amp; Review Milestones (Gantt Schedule)</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Phased project lifecycle aligned with academic review guidelines.</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10 of 12</a:t>
            </a:r>
            <a:endParaRPr lang="en-US" sz="900" dirty="0"/>
          </a:p>
        </p:txBody>
      </p:sp>
      <p:sp>
        <p:nvSpPr>
          <p:cNvPr id="9" name="Shape 7"/>
          <p:cNvSpPr/>
          <p:nvPr/>
        </p:nvSpPr>
        <p:spPr>
          <a:xfrm>
            <a:off x="914400" y="1508760"/>
            <a:ext cx="2404872" cy="4480560"/>
          </a:xfrm>
          <a:prstGeom prst="roundRect">
            <a:avLst>
              <a:gd name="adj" fmla="val 3042"/>
            </a:avLst>
          </a:prstGeom>
          <a:solidFill>
            <a:srgbClr val="FFFFFF"/>
          </a:solidFill>
          <a:ln w="15240">
            <a:solidFill>
              <a:srgbClr val="CBD5E1"/>
            </a:solidFill>
            <a:prstDash val="solid"/>
          </a:ln>
        </p:spPr>
      </p:sp>
      <p:sp>
        <p:nvSpPr>
          <p:cNvPr id="10" name="Shape 8"/>
          <p:cNvSpPr/>
          <p:nvPr/>
        </p:nvSpPr>
        <p:spPr>
          <a:xfrm>
            <a:off x="1097280" y="1737360"/>
            <a:ext cx="457200" cy="73152"/>
          </a:xfrm>
          <a:prstGeom prst="rect">
            <a:avLst/>
          </a:prstGeom>
          <a:solidFill>
            <a:srgbClr val="059669"/>
          </a:solidFill>
          <a:ln/>
        </p:spPr>
      </p:sp>
      <p:sp>
        <p:nvSpPr>
          <p:cNvPr id="11" name="Text 9"/>
          <p:cNvSpPr/>
          <p:nvPr/>
        </p:nvSpPr>
        <p:spPr>
          <a:xfrm>
            <a:off x="1645920" y="1691640"/>
            <a:ext cx="1463040" cy="228600"/>
          </a:xfrm>
          <a:prstGeom prst="rect">
            <a:avLst/>
          </a:prstGeom>
          <a:noFill/>
          <a:ln/>
        </p:spPr>
        <p:txBody>
          <a:bodyPr wrap="square" rtlCol="0" anchor="ctr"/>
          <a:lstStyle/>
          <a:p>
            <a:pPr algn="r" indent="0" marL="0">
              <a:buNone/>
            </a:pPr>
            <a:r>
              <a:rPr lang="en-US" sz="850" b="1" dirty="0">
                <a:solidFill>
                  <a:srgbClr val="059669"/>
                </a:solidFill>
                <a:latin typeface="Calibri" pitchFamily="34" charset="0"/>
                <a:ea typeface="Calibri" pitchFamily="34" charset="-122"/>
                <a:cs typeface="Calibri" pitchFamily="34" charset="-120"/>
              </a:rPr>
              <a:t>COMPLETED</a:t>
            </a:r>
            <a:endParaRPr lang="en-US" sz="850" dirty="0"/>
          </a:p>
        </p:txBody>
      </p:sp>
      <p:sp>
        <p:nvSpPr>
          <p:cNvPr id="12" name="Text 10"/>
          <p:cNvSpPr/>
          <p:nvPr/>
        </p:nvSpPr>
        <p:spPr>
          <a:xfrm>
            <a:off x="1097280" y="1965960"/>
            <a:ext cx="201168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Zeroth Review</a:t>
            </a:r>
            <a:endParaRPr lang="en-US" sz="1300" dirty="0"/>
          </a:p>
        </p:txBody>
      </p:sp>
      <p:sp>
        <p:nvSpPr>
          <p:cNvPr id="13" name="Text 11"/>
          <p:cNvSpPr/>
          <p:nvPr/>
        </p:nvSpPr>
        <p:spPr>
          <a:xfrm>
            <a:off x="1097280" y="2286000"/>
            <a:ext cx="2011680" cy="2286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Current Milestone</a:t>
            </a:r>
            <a:endParaRPr lang="en-US" sz="950" dirty="0"/>
          </a:p>
        </p:txBody>
      </p:sp>
      <p:sp>
        <p:nvSpPr>
          <p:cNvPr id="14" name="Text 12"/>
          <p:cNvSpPr/>
          <p:nvPr/>
        </p:nvSpPr>
        <p:spPr>
          <a:xfrm>
            <a:off x="1097280" y="2651760"/>
            <a:ext cx="2039112" cy="3108960"/>
          </a:xfrm>
          <a:prstGeom prst="rect">
            <a:avLst/>
          </a:prstGeom>
          <a:noFill/>
          <a:ln/>
        </p:spPr>
        <p:txBody>
          <a:bodyPr wrap="square"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Problem formulation and literature benchmark analysis</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System architecture and spatial data modeling</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Prototype dashboard and UX design system finalized</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Preliminary real-time WebSocket communication test</a:t>
            </a:r>
            <a:endParaRPr lang="en-US" sz="950" dirty="0"/>
          </a:p>
        </p:txBody>
      </p:sp>
      <p:sp>
        <p:nvSpPr>
          <p:cNvPr id="15" name="Shape 13"/>
          <p:cNvSpPr/>
          <p:nvPr/>
        </p:nvSpPr>
        <p:spPr>
          <a:xfrm>
            <a:off x="3566160" y="1508760"/>
            <a:ext cx="2404872" cy="4480560"/>
          </a:xfrm>
          <a:prstGeom prst="roundRect">
            <a:avLst>
              <a:gd name="adj" fmla="val 3042"/>
            </a:avLst>
          </a:prstGeom>
          <a:solidFill>
            <a:srgbClr val="FFFFFF"/>
          </a:solidFill>
          <a:ln w="15240">
            <a:solidFill>
              <a:srgbClr val="CBD5E1"/>
            </a:solidFill>
            <a:prstDash val="solid"/>
          </a:ln>
        </p:spPr>
      </p:sp>
      <p:sp>
        <p:nvSpPr>
          <p:cNvPr id="16" name="Shape 14"/>
          <p:cNvSpPr/>
          <p:nvPr/>
        </p:nvSpPr>
        <p:spPr>
          <a:xfrm>
            <a:off x="3749040" y="1737360"/>
            <a:ext cx="457200" cy="73152"/>
          </a:xfrm>
          <a:prstGeom prst="rect">
            <a:avLst/>
          </a:prstGeom>
          <a:solidFill>
            <a:srgbClr val="4F46E5"/>
          </a:solidFill>
          <a:ln/>
        </p:spPr>
      </p:sp>
      <p:sp>
        <p:nvSpPr>
          <p:cNvPr id="17" name="Text 15"/>
          <p:cNvSpPr/>
          <p:nvPr/>
        </p:nvSpPr>
        <p:spPr>
          <a:xfrm>
            <a:off x="4297680" y="1691640"/>
            <a:ext cx="1463040" cy="228600"/>
          </a:xfrm>
          <a:prstGeom prst="rect">
            <a:avLst/>
          </a:prstGeom>
          <a:noFill/>
          <a:ln/>
        </p:spPr>
        <p:txBody>
          <a:bodyPr wrap="square" rtlCol="0" anchor="ctr"/>
          <a:lstStyle/>
          <a:p>
            <a:pPr algn="r" indent="0" marL="0">
              <a:buNone/>
            </a:pPr>
            <a:r>
              <a:rPr lang="en-US" sz="850" b="1" dirty="0">
                <a:solidFill>
                  <a:srgbClr val="4F46E5"/>
                </a:solidFill>
                <a:latin typeface="Calibri" pitchFamily="34" charset="0"/>
                <a:ea typeface="Calibri" pitchFamily="34" charset="-122"/>
                <a:cs typeface="Calibri" pitchFamily="34" charset="-120"/>
              </a:rPr>
              <a:t>IN PROGRESS</a:t>
            </a:r>
            <a:endParaRPr lang="en-US" sz="850" dirty="0"/>
          </a:p>
        </p:txBody>
      </p:sp>
      <p:sp>
        <p:nvSpPr>
          <p:cNvPr id="18" name="Text 16"/>
          <p:cNvSpPr/>
          <p:nvPr/>
        </p:nvSpPr>
        <p:spPr>
          <a:xfrm>
            <a:off x="3749040" y="1965960"/>
            <a:ext cx="201168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Review 1</a:t>
            </a:r>
            <a:endParaRPr lang="en-US" sz="1300" dirty="0"/>
          </a:p>
        </p:txBody>
      </p:sp>
      <p:sp>
        <p:nvSpPr>
          <p:cNvPr id="19" name="Text 17"/>
          <p:cNvSpPr/>
          <p:nvPr/>
        </p:nvSpPr>
        <p:spPr>
          <a:xfrm>
            <a:off x="3749040" y="2286000"/>
            <a:ext cx="2011680" cy="2286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Month 2</a:t>
            </a:r>
            <a:endParaRPr lang="en-US" sz="950" dirty="0"/>
          </a:p>
        </p:txBody>
      </p:sp>
      <p:sp>
        <p:nvSpPr>
          <p:cNvPr id="20" name="Text 18"/>
          <p:cNvSpPr/>
          <p:nvPr/>
        </p:nvSpPr>
        <p:spPr>
          <a:xfrm>
            <a:off x="3749040" y="2651760"/>
            <a:ext cx="2039112" cy="3108960"/>
          </a:xfrm>
          <a:prstGeom prst="rect">
            <a:avLst/>
          </a:prstGeom>
          <a:noFill/>
          <a:ln/>
        </p:spPr>
        <p:txBody>
          <a:bodyPr wrap="square"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PostgreSQL schema optimization &amp; foreign key constraints</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SOS Distress submission API with GPS reverse-geocoding</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Leaflet tactical map clustering &amp; layer filtering</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Role-based JWT authentication and authorization gates</a:t>
            </a:r>
            <a:endParaRPr lang="en-US" sz="950" dirty="0"/>
          </a:p>
        </p:txBody>
      </p:sp>
      <p:sp>
        <p:nvSpPr>
          <p:cNvPr id="21" name="Shape 19"/>
          <p:cNvSpPr/>
          <p:nvPr/>
        </p:nvSpPr>
        <p:spPr>
          <a:xfrm>
            <a:off x="6217920" y="1508760"/>
            <a:ext cx="2404872" cy="4480560"/>
          </a:xfrm>
          <a:prstGeom prst="roundRect">
            <a:avLst>
              <a:gd name="adj" fmla="val 3042"/>
            </a:avLst>
          </a:prstGeom>
          <a:solidFill>
            <a:srgbClr val="FFFFFF"/>
          </a:solidFill>
          <a:ln w="15240">
            <a:solidFill>
              <a:srgbClr val="CBD5E1"/>
            </a:solidFill>
            <a:prstDash val="solid"/>
          </a:ln>
        </p:spPr>
      </p:sp>
      <p:sp>
        <p:nvSpPr>
          <p:cNvPr id="22" name="Shape 20"/>
          <p:cNvSpPr/>
          <p:nvPr/>
        </p:nvSpPr>
        <p:spPr>
          <a:xfrm>
            <a:off x="6400800" y="1737360"/>
            <a:ext cx="457200" cy="73152"/>
          </a:xfrm>
          <a:prstGeom prst="rect">
            <a:avLst/>
          </a:prstGeom>
          <a:solidFill>
            <a:srgbClr val="2563EB"/>
          </a:solidFill>
          <a:ln/>
        </p:spPr>
      </p:sp>
      <p:sp>
        <p:nvSpPr>
          <p:cNvPr id="23" name="Text 21"/>
          <p:cNvSpPr/>
          <p:nvPr/>
        </p:nvSpPr>
        <p:spPr>
          <a:xfrm>
            <a:off x="6949440" y="1691640"/>
            <a:ext cx="1463040" cy="228600"/>
          </a:xfrm>
          <a:prstGeom prst="rect">
            <a:avLst/>
          </a:prstGeom>
          <a:noFill/>
          <a:ln/>
        </p:spPr>
        <p:txBody>
          <a:bodyPr wrap="square" rtlCol="0" anchor="ctr"/>
          <a:lstStyle/>
          <a:p>
            <a:pPr algn="r" indent="0" marL="0">
              <a:buNone/>
            </a:pPr>
            <a:r>
              <a:rPr lang="en-US" sz="850" b="1" dirty="0">
                <a:solidFill>
                  <a:srgbClr val="2563EB"/>
                </a:solidFill>
                <a:latin typeface="Calibri" pitchFamily="34" charset="0"/>
                <a:ea typeface="Calibri" pitchFamily="34" charset="-122"/>
                <a:cs typeface="Calibri" pitchFamily="34" charset="-120"/>
              </a:rPr>
              <a:t>PLANNED</a:t>
            </a:r>
            <a:endParaRPr lang="en-US" sz="850" dirty="0"/>
          </a:p>
        </p:txBody>
      </p:sp>
      <p:sp>
        <p:nvSpPr>
          <p:cNvPr id="24" name="Text 22"/>
          <p:cNvSpPr/>
          <p:nvPr/>
        </p:nvSpPr>
        <p:spPr>
          <a:xfrm>
            <a:off x="6400800" y="1965960"/>
            <a:ext cx="201168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Review 2</a:t>
            </a:r>
            <a:endParaRPr lang="en-US" sz="1300" dirty="0"/>
          </a:p>
        </p:txBody>
      </p:sp>
      <p:sp>
        <p:nvSpPr>
          <p:cNvPr id="25" name="Text 23"/>
          <p:cNvSpPr/>
          <p:nvPr/>
        </p:nvSpPr>
        <p:spPr>
          <a:xfrm>
            <a:off x="6400800" y="2286000"/>
            <a:ext cx="2011680" cy="2286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Month 3</a:t>
            </a:r>
            <a:endParaRPr lang="en-US" sz="950" dirty="0"/>
          </a:p>
        </p:txBody>
      </p:sp>
      <p:sp>
        <p:nvSpPr>
          <p:cNvPr id="26" name="Text 24"/>
          <p:cNvSpPr/>
          <p:nvPr/>
        </p:nvSpPr>
        <p:spPr>
          <a:xfrm>
            <a:off x="6400800" y="2651760"/>
            <a:ext cx="2039112" cy="3108960"/>
          </a:xfrm>
          <a:prstGeom prst="rect">
            <a:avLst/>
          </a:prstGeom>
          <a:noFill/>
          <a:ln/>
        </p:spPr>
        <p:txBody>
          <a:bodyPr wrap="square"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Citizen-Volunteer hybrid "I Will Go" action engine</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Proximity Haversine dispatch algorithm integration</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Web Audio two-tone emergency chime &amp; regional alerts</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Relief center real-time occupancy synchronization</a:t>
            </a:r>
            <a:endParaRPr lang="en-US" sz="950" dirty="0"/>
          </a:p>
        </p:txBody>
      </p:sp>
      <p:sp>
        <p:nvSpPr>
          <p:cNvPr id="27" name="Shape 25"/>
          <p:cNvSpPr/>
          <p:nvPr/>
        </p:nvSpPr>
        <p:spPr>
          <a:xfrm>
            <a:off x="8869680" y="1508760"/>
            <a:ext cx="2404872" cy="4480560"/>
          </a:xfrm>
          <a:prstGeom prst="roundRect">
            <a:avLst>
              <a:gd name="adj" fmla="val 3042"/>
            </a:avLst>
          </a:prstGeom>
          <a:solidFill>
            <a:srgbClr val="FFFFFF"/>
          </a:solidFill>
          <a:ln w="15240">
            <a:solidFill>
              <a:srgbClr val="CBD5E1"/>
            </a:solidFill>
            <a:prstDash val="solid"/>
          </a:ln>
        </p:spPr>
      </p:sp>
      <p:sp>
        <p:nvSpPr>
          <p:cNvPr id="28" name="Shape 26"/>
          <p:cNvSpPr/>
          <p:nvPr/>
        </p:nvSpPr>
        <p:spPr>
          <a:xfrm>
            <a:off x="9052560" y="1737360"/>
            <a:ext cx="457200" cy="73152"/>
          </a:xfrm>
          <a:prstGeom prst="rect">
            <a:avLst/>
          </a:prstGeom>
          <a:solidFill>
            <a:srgbClr val="D97706"/>
          </a:solidFill>
          <a:ln/>
        </p:spPr>
      </p:sp>
      <p:sp>
        <p:nvSpPr>
          <p:cNvPr id="29" name="Text 27"/>
          <p:cNvSpPr/>
          <p:nvPr/>
        </p:nvSpPr>
        <p:spPr>
          <a:xfrm>
            <a:off x="9601200" y="1691640"/>
            <a:ext cx="1463040" cy="228600"/>
          </a:xfrm>
          <a:prstGeom prst="rect">
            <a:avLst/>
          </a:prstGeom>
          <a:noFill/>
          <a:ln/>
        </p:spPr>
        <p:txBody>
          <a:bodyPr wrap="square" rtlCol="0" anchor="ctr"/>
          <a:lstStyle/>
          <a:p>
            <a:pPr algn="r" indent="0" marL="0">
              <a:buNone/>
            </a:pPr>
            <a:r>
              <a:rPr lang="en-US" sz="850" b="1" dirty="0">
                <a:solidFill>
                  <a:srgbClr val="D97706"/>
                </a:solidFill>
                <a:latin typeface="Calibri" pitchFamily="34" charset="0"/>
                <a:ea typeface="Calibri" pitchFamily="34" charset="-122"/>
                <a:cs typeface="Calibri" pitchFamily="34" charset="-120"/>
              </a:rPr>
              <a:t>PLANNED</a:t>
            </a:r>
            <a:endParaRPr lang="en-US" sz="850" dirty="0"/>
          </a:p>
        </p:txBody>
      </p:sp>
      <p:sp>
        <p:nvSpPr>
          <p:cNvPr id="30" name="Text 28"/>
          <p:cNvSpPr/>
          <p:nvPr/>
        </p:nvSpPr>
        <p:spPr>
          <a:xfrm>
            <a:off x="9052560" y="1965960"/>
            <a:ext cx="2011680" cy="320040"/>
          </a:xfrm>
          <a:prstGeom prst="rect">
            <a:avLst/>
          </a:prstGeom>
          <a:noFill/>
          <a:ln/>
        </p:spPr>
        <p:txBody>
          <a:bodyPr wrap="square"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Final Review</a:t>
            </a:r>
            <a:endParaRPr lang="en-US" sz="1300" dirty="0"/>
          </a:p>
        </p:txBody>
      </p:sp>
      <p:sp>
        <p:nvSpPr>
          <p:cNvPr id="31" name="Text 29"/>
          <p:cNvSpPr/>
          <p:nvPr/>
        </p:nvSpPr>
        <p:spPr>
          <a:xfrm>
            <a:off x="9052560" y="2286000"/>
            <a:ext cx="2011680" cy="2286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Month 4</a:t>
            </a:r>
            <a:endParaRPr lang="en-US" sz="950" dirty="0"/>
          </a:p>
        </p:txBody>
      </p:sp>
      <p:sp>
        <p:nvSpPr>
          <p:cNvPr id="32" name="Text 30"/>
          <p:cNvSpPr/>
          <p:nvPr/>
        </p:nvSpPr>
        <p:spPr>
          <a:xfrm>
            <a:off x="9052560" y="2651760"/>
            <a:ext cx="2039112" cy="3108960"/>
          </a:xfrm>
          <a:prstGeom prst="rect">
            <a:avLst/>
          </a:prstGeom>
          <a:noFill/>
          <a:ln/>
        </p:spPr>
        <p:txBody>
          <a:bodyPr wrap="square"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End-to-end stress testing under 5,000 simulated SOS calls</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Disaster simulation exercises with regional field trials</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Security audit against injection and unauthorized broadcasts</a:t>
            </a:r>
            <a:endParaRPr lang="en-US" sz="950" dirty="0"/>
          </a:p>
          <a:p>
            <a:pPr indent="0" marL="0">
              <a:lnSpc>
                <a:spcPct val="115000"/>
              </a:lnSpc>
              <a:buNone/>
            </a:pPr>
            <a:endParaRPr lang="en-US" sz="950" dirty="0"/>
          </a:p>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 Final project report, paper publication &amp; viva defense</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4F46E5"/>
            </a:solidFill>
            <a:prstDash val="solid"/>
          </a:ln>
        </p:spPr>
      </p:sp>
      <p:sp>
        <p:nvSpPr>
          <p:cNvPr id="3" name="Text 1"/>
          <p:cNvSpPr/>
          <p:nvPr/>
        </p:nvSpPr>
        <p:spPr>
          <a:xfrm>
            <a:off x="914400" y="320040"/>
            <a:ext cx="7315200" cy="228600"/>
          </a:xfrm>
          <a:prstGeom prst="rect">
            <a:avLst/>
          </a:prstGeom>
          <a:noFill/>
          <a:ln/>
        </p:spPr>
        <p:txBody>
          <a:bodyPr wrap="square" rtlCol="0" anchor="ctr"/>
          <a:lstStyle/>
          <a:p>
            <a:pPr indent="0" marL="0">
              <a:buNone/>
            </a:pPr>
            <a:r>
              <a:rPr lang="en-US" sz="950" b="1" dirty="0">
                <a:solidFill>
                  <a:srgbClr val="4F46E5"/>
                </a:solidFill>
                <a:latin typeface="Calibri" pitchFamily="34" charset="0"/>
                <a:ea typeface="Calibri" pitchFamily="34" charset="-122"/>
                <a:cs typeface="Calibri" pitchFamily="34" charset="-120"/>
              </a:rPr>
              <a:t>IMPACT &amp; RESULTS</a:t>
            </a:r>
            <a:endParaRPr lang="en-US" sz="950" dirty="0"/>
          </a:p>
        </p:txBody>
      </p:sp>
      <p:sp>
        <p:nvSpPr>
          <p:cNvPr id="4" name="Text 2"/>
          <p:cNvSpPr/>
          <p:nvPr/>
        </p:nvSpPr>
        <p:spPr>
          <a:xfrm>
            <a:off x="914400" y="548640"/>
            <a:ext cx="1036289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Expected Outcomes &amp; Societal Impact</a:t>
            </a:r>
            <a:endParaRPr lang="en-US" sz="2200" dirty="0"/>
          </a:p>
        </p:txBody>
      </p:sp>
      <p:sp>
        <p:nvSpPr>
          <p:cNvPr id="5" name="Text 3"/>
          <p:cNvSpPr/>
          <p:nvPr/>
        </p:nvSpPr>
        <p:spPr>
          <a:xfrm>
            <a:off x="914400" y="1024128"/>
            <a:ext cx="10362895" cy="292608"/>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Tangible operational and humanitarian benefits delivered by ReliefLink.</a:t>
            </a:r>
            <a:endParaRPr lang="en-US" sz="1100" dirty="0"/>
          </a:p>
        </p:txBody>
      </p:sp>
      <p:sp>
        <p:nvSpPr>
          <p:cNvPr id="6" name="Shape 4"/>
          <p:cNvSpPr/>
          <p:nvPr/>
        </p:nvSpPr>
        <p:spPr>
          <a:xfrm>
            <a:off x="914400" y="6263640"/>
            <a:ext cx="10362895" cy="0"/>
          </a:xfrm>
          <a:prstGeom prst="line">
            <a:avLst/>
          </a:prstGeom>
          <a:noFill/>
          <a:ln w="9525">
            <a:solidFill>
              <a:srgbClr val="E2E8F0"/>
            </a:solidFill>
            <a:prstDash val="solid"/>
          </a:ln>
        </p:spPr>
      </p:sp>
      <p:sp>
        <p:nvSpPr>
          <p:cNvPr id="7" name="Text 5"/>
          <p:cNvSpPr/>
          <p:nvPr/>
        </p:nvSpPr>
        <p:spPr>
          <a:xfrm>
            <a:off x="914400" y="6355080"/>
            <a:ext cx="8229600" cy="22860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ReliefLink: Real-Time Disaster Relief Coordination | Candidate: Sanjay K (310624104619)</a:t>
            </a:r>
            <a:endParaRPr lang="en-US" sz="900" dirty="0"/>
          </a:p>
        </p:txBody>
      </p:sp>
      <p:sp>
        <p:nvSpPr>
          <p:cNvPr id="8" name="Text 6"/>
          <p:cNvSpPr/>
          <p:nvPr/>
        </p:nvSpPr>
        <p:spPr>
          <a:xfrm>
            <a:off x="9448495" y="6355080"/>
            <a:ext cx="1828800" cy="228600"/>
          </a:xfrm>
          <a:prstGeom prst="rect">
            <a:avLst/>
          </a:prstGeom>
          <a:noFill/>
          <a:ln/>
        </p:spPr>
        <p:txBody>
          <a:bodyPr wrap="square" rtlCol="0" anchor="ctr"/>
          <a:lstStyle/>
          <a:p>
            <a:pPr algn="r" indent="0" marL="0">
              <a:buNone/>
            </a:pPr>
            <a:r>
              <a:rPr lang="en-US" sz="900" b="1" dirty="0">
                <a:solidFill>
                  <a:srgbClr val="94A3B8"/>
                </a:solidFill>
                <a:latin typeface="Calibri" pitchFamily="34" charset="0"/>
                <a:ea typeface="Calibri" pitchFamily="34" charset="-122"/>
                <a:cs typeface="Calibri" pitchFamily="34" charset="-120"/>
              </a:rPr>
              <a:t>Slide 11 of 12</a:t>
            </a:r>
            <a:endParaRPr lang="en-US" sz="900" dirty="0"/>
          </a:p>
        </p:txBody>
      </p:sp>
      <p:sp>
        <p:nvSpPr>
          <p:cNvPr id="9" name="Shape 7"/>
          <p:cNvSpPr/>
          <p:nvPr/>
        </p:nvSpPr>
        <p:spPr>
          <a:xfrm>
            <a:off x="914400" y="1508760"/>
            <a:ext cx="4983480" cy="2103120"/>
          </a:xfrm>
          <a:prstGeom prst="roundRect">
            <a:avLst>
              <a:gd name="adj" fmla="val 3478"/>
            </a:avLst>
          </a:prstGeom>
          <a:solidFill>
            <a:srgbClr val="FFFFFF"/>
          </a:solidFill>
          <a:ln w="15240">
            <a:solidFill>
              <a:srgbClr val="CBD5E1"/>
            </a:solidFill>
            <a:prstDash val="solid"/>
          </a:ln>
        </p:spPr>
      </p:sp>
      <p:sp>
        <p:nvSpPr>
          <p:cNvPr id="10" name="Text 8"/>
          <p:cNvSpPr/>
          <p:nvPr/>
        </p:nvSpPr>
        <p:spPr>
          <a:xfrm>
            <a:off x="1188720" y="1737360"/>
            <a:ext cx="1280160" cy="502920"/>
          </a:xfrm>
          <a:prstGeom prst="rect">
            <a:avLst/>
          </a:prstGeom>
          <a:noFill/>
          <a:ln/>
        </p:spPr>
        <p:txBody>
          <a:bodyPr wrap="square" rtlCol="0" anchor="ctr"/>
          <a:lstStyle/>
          <a:p>
            <a:pPr indent="0" marL="0">
              <a:buNone/>
            </a:pPr>
            <a:r>
              <a:rPr lang="en-US" sz="2400" b="1" dirty="0">
                <a:solidFill>
                  <a:srgbClr val="4F46E5"/>
                </a:solidFill>
                <a:latin typeface="Calibri" pitchFamily="34" charset="0"/>
                <a:ea typeface="Calibri" pitchFamily="34" charset="-122"/>
                <a:cs typeface="Calibri" pitchFamily="34" charset="-120"/>
              </a:rPr>
              <a:t>85% ↓</a:t>
            </a:r>
            <a:endParaRPr lang="en-US" sz="2400" dirty="0"/>
          </a:p>
        </p:txBody>
      </p:sp>
      <p:sp>
        <p:nvSpPr>
          <p:cNvPr id="11" name="Text 9"/>
          <p:cNvSpPr/>
          <p:nvPr/>
        </p:nvSpPr>
        <p:spPr>
          <a:xfrm>
            <a:off x="2560320" y="1737360"/>
            <a:ext cx="3063240" cy="45720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Reduction in Golden Hour Triage Delay</a:t>
            </a:r>
            <a:endParaRPr lang="en-US" sz="1250" dirty="0"/>
          </a:p>
        </p:txBody>
      </p:sp>
      <p:sp>
        <p:nvSpPr>
          <p:cNvPr id="12" name="Text 10"/>
          <p:cNvSpPr/>
          <p:nvPr/>
        </p:nvSpPr>
        <p:spPr>
          <a:xfrm>
            <a:off x="1188720" y="2331720"/>
            <a:ext cx="4434840" cy="10058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Distress calls reach nearby citizen responders and NDRF control rooms within seconds rather than hours of congested phone lines.</a:t>
            </a:r>
            <a:endParaRPr lang="en-US" sz="1050" dirty="0"/>
          </a:p>
        </p:txBody>
      </p:sp>
      <p:sp>
        <p:nvSpPr>
          <p:cNvPr id="13" name="Shape 11"/>
          <p:cNvSpPr/>
          <p:nvPr/>
        </p:nvSpPr>
        <p:spPr>
          <a:xfrm>
            <a:off x="6291072" y="1508760"/>
            <a:ext cx="4983480" cy="2103120"/>
          </a:xfrm>
          <a:prstGeom prst="roundRect">
            <a:avLst>
              <a:gd name="adj" fmla="val 3478"/>
            </a:avLst>
          </a:prstGeom>
          <a:solidFill>
            <a:srgbClr val="FFFFFF"/>
          </a:solidFill>
          <a:ln w="15240">
            <a:solidFill>
              <a:srgbClr val="CBD5E1"/>
            </a:solidFill>
            <a:prstDash val="solid"/>
          </a:ln>
        </p:spPr>
      </p:sp>
      <p:sp>
        <p:nvSpPr>
          <p:cNvPr id="14" name="Text 12"/>
          <p:cNvSpPr/>
          <p:nvPr/>
        </p:nvSpPr>
        <p:spPr>
          <a:xfrm>
            <a:off x="6565392" y="1737360"/>
            <a:ext cx="1280160" cy="502920"/>
          </a:xfrm>
          <a:prstGeom prst="rect">
            <a:avLst/>
          </a:prstGeom>
          <a:noFill/>
          <a:ln/>
        </p:spPr>
        <p:txBody>
          <a:bodyPr wrap="square" rtlCol="0" anchor="ctr"/>
          <a:lstStyle/>
          <a:p>
            <a:pPr indent="0" marL="0">
              <a:buNone/>
            </a:pPr>
            <a:r>
              <a:rPr lang="en-US" sz="2400" b="1" dirty="0">
                <a:solidFill>
                  <a:srgbClr val="4F46E5"/>
                </a:solidFill>
                <a:latin typeface="Calibri" pitchFamily="34" charset="0"/>
                <a:ea typeface="Calibri" pitchFamily="34" charset="-122"/>
                <a:cs typeface="Calibri" pitchFamily="34" charset="-120"/>
              </a:rPr>
              <a:t>0%</a:t>
            </a:r>
            <a:endParaRPr lang="en-US" sz="2400" dirty="0"/>
          </a:p>
        </p:txBody>
      </p:sp>
      <p:sp>
        <p:nvSpPr>
          <p:cNvPr id="15" name="Text 13"/>
          <p:cNvSpPr/>
          <p:nvPr/>
        </p:nvSpPr>
        <p:spPr>
          <a:xfrm>
            <a:off x="7936992" y="1737360"/>
            <a:ext cx="3063240" cy="45720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Duplicated Volunteer Deployments</a:t>
            </a:r>
            <a:endParaRPr lang="en-US" sz="1250" dirty="0"/>
          </a:p>
        </p:txBody>
      </p:sp>
      <p:sp>
        <p:nvSpPr>
          <p:cNvPr id="16" name="Text 14"/>
          <p:cNvSpPr/>
          <p:nvPr/>
        </p:nvSpPr>
        <p:spPr>
          <a:xfrm>
            <a:off x="6565392" y="2331720"/>
            <a:ext cx="4434840" cy="10058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Live tactical spatial markers ensure multiple volunteer units do not blindly duplicate efforts on the same rescue ticket.</a:t>
            </a:r>
            <a:endParaRPr lang="en-US" sz="1050" dirty="0"/>
          </a:p>
        </p:txBody>
      </p:sp>
      <p:sp>
        <p:nvSpPr>
          <p:cNvPr id="17" name="Shape 15"/>
          <p:cNvSpPr/>
          <p:nvPr/>
        </p:nvSpPr>
        <p:spPr>
          <a:xfrm>
            <a:off x="914400" y="3794760"/>
            <a:ext cx="4983480" cy="2103120"/>
          </a:xfrm>
          <a:prstGeom prst="roundRect">
            <a:avLst>
              <a:gd name="adj" fmla="val 3478"/>
            </a:avLst>
          </a:prstGeom>
          <a:solidFill>
            <a:srgbClr val="FFFFFF"/>
          </a:solidFill>
          <a:ln w="15240">
            <a:solidFill>
              <a:srgbClr val="CBD5E1"/>
            </a:solidFill>
            <a:prstDash val="solid"/>
          </a:ln>
        </p:spPr>
      </p:sp>
      <p:sp>
        <p:nvSpPr>
          <p:cNvPr id="18" name="Text 16"/>
          <p:cNvSpPr/>
          <p:nvPr/>
        </p:nvSpPr>
        <p:spPr>
          <a:xfrm>
            <a:off x="1188720" y="4023360"/>
            <a:ext cx="1280160" cy="502920"/>
          </a:xfrm>
          <a:prstGeom prst="rect">
            <a:avLst/>
          </a:prstGeom>
          <a:noFill/>
          <a:ln/>
        </p:spPr>
        <p:txBody>
          <a:bodyPr wrap="square" rtlCol="0" anchor="ctr"/>
          <a:lstStyle/>
          <a:p>
            <a:pPr indent="0" marL="0">
              <a:buNone/>
            </a:pPr>
            <a:r>
              <a:rPr lang="en-US" sz="2400" b="1" dirty="0">
                <a:solidFill>
                  <a:srgbClr val="4F46E5"/>
                </a:solidFill>
                <a:latin typeface="Calibri" pitchFamily="34" charset="0"/>
                <a:ea typeface="Calibri" pitchFamily="34" charset="-122"/>
                <a:cs typeface="Calibri" pitchFamily="34" charset="-120"/>
              </a:rPr>
              <a:t>100%</a:t>
            </a:r>
            <a:endParaRPr lang="en-US" sz="2400" dirty="0"/>
          </a:p>
        </p:txBody>
      </p:sp>
      <p:sp>
        <p:nvSpPr>
          <p:cNvPr id="19" name="Text 17"/>
          <p:cNvSpPr/>
          <p:nvPr/>
        </p:nvSpPr>
        <p:spPr>
          <a:xfrm>
            <a:off x="2560320" y="4023360"/>
            <a:ext cx="3063240" cy="45720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Accountability &amp; Audit Trails</a:t>
            </a:r>
            <a:endParaRPr lang="en-US" sz="1250" dirty="0"/>
          </a:p>
        </p:txBody>
      </p:sp>
      <p:sp>
        <p:nvSpPr>
          <p:cNvPr id="20" name="Text 18"/>
          <p:cNvSpPr/>
          <p:nvPr/>
        </p:nvSpPr>
        <p:spPr>
          <a:xfrm>
            <a:off x="1188720" y="4617720"/>
            <a:ext cx="4434840" cy="10058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Every dispatch, volunteer response, shelter update, and official NDRF team assignment is permanently logged in a verifiable database.</a:t>
            </a:r>
            <a:endParaRPr lang="en-US" sz="1050" dirty="0"/>
          </a:p>
        </p:txBody>
      </p:sp>
      <p:sp>
        <p:nvSpPr>
          <p:cNvPr id="21" name="Shape 19"/>
          <p:cNvSpPr/>
          <p:nvPr/>
        </p:nvSpPr>
        <p:spPr>
          <a:xfrm>
            <a:off x="6291072" y="3794760"/>
            <a:ext cx="4983480" cy="2103120"/>
          </a:xfrm>
          <a:prstGeom prst="roundRect">
            <a:avLst>
              <a:gd name="adj" fmla="val 3478"/>
            </a:avLst>
          </a:prstGeom>
          <a:solidFill>
            <a:srgbClr val="FFFFFF"/>
          </a:solidFill>
          <a:ln w="15240">
            <a:solidFill>
              <a:srgbClr val="CBD5E1"/>
            </a:solidFill>
            <a:prstDash val="solid"/>
          </a:ln>
        </p:spPr>
      </p:sp>
      <p:sp>
        <p:nvSpPr>
          <p:cNvPr id="22" name="Text 20"/>
          <p:cNvSpPr/>
          <p:nvPr/>
        </p:nvSpPr>
        <p:spPr>
          <a:xfrm>
            <a:off x="6565392" y="4023360"/>
            <a:ext cx="1280160" cy="502920"/>
          </a:xfrm>
          <a:prstGeom prst="rect">
            <a:avLst/>
          </a:prstGeom>
          <a:noFill/>
          <a:ln/>
        </p:spPr>
        <p:txBody>
          <a:bodyPr wrap="square" rtlCol="0" anchor="ctr"/>
          <a:lstStyle/>
          <a:p>
            <a:pPr indent="0" marL="0">
              <a:buNone/>
            </a:pPr>
            <a:r>
              <a:rPr lang="en-US" sz="2400" b="1" dirty="0">
                <a:solidFill>
                  <a:srgbClr val="4F46E5"/>
                </a:solidFill>
                <a:latin typeface="Calibri" pitchFamily="34" charset="0"/>
                <a:ea typeface="Calibri" pitchFamily="34" charset="-122"/>
                <a:cs typeface="Calibri" pitchFamily="34" charset="-120"/>
              </a:rPr>
              <a:t>Direct</a:t>
            </a:r>
            <a:endParaRPr lang="en-US" sz="2400" dirty="0"/>
          </a:p>
        </p:txBody>
      </p:sp>
      <p:sp>
        <p:nvSpPr>
          <p:cNvPr id="23" name="Text 21"/>
          <p:cNvSpPr/>
          <p:nvPr/>
        </p:nvSpPr>
        <p:spPr>
          <a:xfrm>
            <a:off x="7936992" y="4023360"/>
            <a:ext cx="3063240" cy="457200"/>
          </a:xfrm>
          <a:prstGeom prst="rect">
            <a:avLst/>
          </a:prstGeom>
          <a:noFill/>
          <a:ln/>
        </p:spPr>
        <p:txBody>
          <a:bodyPr wrap="square"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Citizen Empowerment in Calamities</a:t>
            </a:r>
            <a:endParaRPr lang="en-US" sz="1250" dirty="0"/>
          </a:p>
        </p:txBody>
      </p:sp>
      <p:sp>
        <p:nvSpPr>
          <p:cNvPr id="24" name="Text 22"/>
          <p:cNvSpPr/>
          <p:nvPr/>
        </p:nvSpPr>
        <p:spPr>
          <a:xfrm>
            <a:off x="6565392" y="4617720"/>
            <a:ext cx="4434840" cy="1005840"/>
          </a:xfrm>
          <a:prstGeom prst="rect">
            <a:avLst/>
          </a:prstGeom>
          <a:noFill/>
          <a:ln/>
        </p:spPr>
        <p:txBody>
          <a:bodyPr wrap="square" rtlCol="0" anchor="ctr"/>
          <a:lstStyle/>
          <a:p>
            <a:pPr indent="0" marL="0">
              <a:lnSpc>
                <a:spcPct val="120000"/>
              </a:lnSpc>
              <a:buNone/>
            </a:pPr>
            <a:r>
              <a:rPr lang="en-US" sz="1050" dirty="0">
                <a:solidFill>
                  <a:srgbClr val="1E293B"/>
                </a:solidFill>
                <a:latin typeface="Calibri" pitchFamily="34" charset="0"/>
                <a:ea typeface="Calibri" pitchFamily="34" charset="-122"/>
                <a:cs typeface="Calibri" pitchFamily="34" charset="-120"/>
              </a:rPr>
              <a:t>Transforms stranded citizens from helpless bystanders into organized, recognized emergency responders.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14400" y="822960"/>
            <a:ext cx="1645920" cy="73152"/>
          </a:xfrm>
          <a:prstGeom prst="rect">
            <a:avLst/>
          </a:prstGeom>
          <a:solidFill>
            <a:srgbClr val="4F46E5"/>
          </a:solidFill>
          <a:ln/>
        </p:spPr>
      </p:sp>
      <p:sp>
        <p:nvSpPr>
          <p:cNvPr id="3" name="Text 1"/>
          <p:cNvSpPr/>
          <p:nvPr/>
        </p:nvSpPr>
        <p:spPr>
          <a:xfrm>
            <a:off x="914400" y="1051560"/>
            <a:ext cx="10362895" cy="41148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CONCLUSION &amp; FUTURE DIRECTIONS</a:t>
            </a:r>
            <a:endParaRPr lang="en-US" sz="2400" dirty="0"/>
          </a:p>
        </p:txBody>
      </p:sp>
      <p:sp>
        <p:nvSpPr>
          <p:cNvPr id="4" name="Text 2"/>
          <p:cNvSpPr/>
          <p:nvPr/>
        </p:nvSpPr>
        <p:spPr>
          <a:xfrm>
            <a:off x="914400" y="1554480"/>
            <a:ext cx="10362895" cy="777240"/>
          </a:xfrm>
          <a:prstGeom prst="rect">
            <a:avLst/>
          </a:prstGeom>
          <a:noFill/>
          <a:ln/>
        </p:spPr>
        <p:txBody>
          <a:bodyPr wrap="square" rtlCol="0" anchor="ctr"/>
          <a:lstStyle/>
          <a:p>
            <a:pPr indent="0" marL="0">
              <a:lnSpc>
                <a:spcPct val="130000"/>
              </a:lnSpc>
              <a:buNone/>
            </a:pPr>
            <a:r>
              <a:rPr lang="en-US" sz="1200" dirty="0">
                <a:solidFill>
                  <a:srgbClr val="CBD5E1"/>
                </a:solidFill>
                <a:latin typeface="Calibri" pitchFamily="34" charset="0"/>
                <a:ea typeface="Calibri" pitchFamily="34" charset="-122"/>
                <a:cs typeface="Calibri" pitchFamily="34" charset="-120"/>
              </a:rPr>
              <a:t>ReliefLink addresses the most critical bottleneck in modern disaster management: real-time spatial coordination and community mobilization during the Golden Hour. By providing a unified platform for citizens, spontaneous volunteers, and government forces, it bridges the gap between chaotic crowd distress and structured official response.</a:t>
            </a:r>
            <a:endParaRPr lang="en-US" sz="1200" dirty="0"/>
          </a:p>
        </p:txBody>
      </p:sp>
      <p:sp>
        <p:nvSpPr>
          <p:cNvPr id="5" name="Shape 3"/>
          <p:cNvSpPr/>
          <p:nvPr/>
        </p:nvSpPr>
        <p:spPr>
          <a:xfrm>
            <a:off x="914400" y="2560320"/>
            <a:ext cx="10362895" cy="2286000"/>
          </a:xfrm>
          <a:prstGeom prst="roundRect">
            <a:avLst>
              <a:gd name="adj" fmla="val 3200"/>
            </a:avLst>
          </a:prstGeom>
          <a:solidFill>
            <a:srgbClr val="1E293B"/>
          </a:solidFill>
          <a:ln w="15240">
            <a:solidFill>
              <a:srgbClr val="334155"/>
            </a:solidFill>
            <a:prstDash val="solid"/>
          </a:ln>
        </p:spPr>
      </p:sp>
      <p:sp>
        <p:nvSpPr>
          <p:cNvPr id="6" name="Text 4"/>
          <p:cNvSpPr/>
          <p:nvPr/>
        </p:nvSpPr>
        <p:spPr>
          <a:xfrm>
            <a:off x="1188720" y="2743200"/>
            <a:ext cx="9784080" cy="256032"/>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KEY REFERENCES &amp; STANDARDS</a:t>
            </a:r>
            <a:endParaRPr lang="en-US" sz="1100" dirty="0"/>
          </a:p>
        </p:txBody>
      </p:sp>
      <p:sp>
        <p:nvSpPr>
          <p:cNvPr id="7" name="Text 5"/>
          <p:cNvSpPr/>
          <p:nvPr/>
        </p:nvSpPr>
        <p:spPr>
          <a:xfrm>
            <a:off x="1188720" y="3063240"/>
            <a:ext cx="9784080" cy="1600200"/>
          </a:xfrm>
          <a:prstGeom prst="rect">
            <a:avLst/>
          </a:prstGeom>
          <a:noFill/>
          <a:ln/>
        </p:spPr>
        <p:txBody>
          <a:bodyPr wrap="square" rtlCol="0" anchor="ctr"/>
          <a:lstStyle/>
          <a:p>
            <a:pPr indent="0" marL="0">
              <a:lnSpc>
                <a:spcPct val="120000"/>
              </a:lnSpc>
              <a:buNone/>
            </a:pPr>
            <a:r>
              <a:rPr lang="en-US" sz="950" dirty="0">
                <a:solidFill>
                  <a:srgbClr val="94A3B8"/>
                </a:solidFill>
                <a:latin typeface="Calibri" pitchFamily="34" charset="0"/>
                <a:ea typeface="Calibri" pitchFamily="34" charset="-122"/>
                <a:cs typeface="Calibri" pitchFamily="34" charset="-120"/>
              </a:rPr>
              <a:t>[1] National Disaster Management Authority (NDMA), Government of India — "National Disaster Management Plan (NDMP)", 2019.</a:t>
            </a:r>
            <a:endParaRPr lang="en-US" sz="950" dirty="0"/>
          </a:p>
          <a:p>
            <a:pPr indent="0" marL="0">
              <a:lnSpc>
                <a:spcPct val="120000"/>
              </a:lnSpc>
              <a:buNone/>
            </a:pPr>
            <a:endParaRPr lang="en-US" sz="950" dirty="0"/>
          </a:p>
          <a:p>
            <a:pPr indent="0" marL="0">
              <a:lnSpc>
                <a:spcPct val="120000"/>
              </a:lnSpc>
              <a:buNone/>
            </a:pPr>
            <a:r>
              <a:rPr lang="en-US" sz="950" dirty="0">
                <a:solidFill>
                  <a:srgbClr val="94A3B8"/>
                </a:solidFill>
                <a:latin typeface="Calibri" pitchFamily="34" charset="0"/>
                <a:ea typeface="Calibri" pitchFamily="34" charset="-122"/>
                <a:cs typeface="Calibri" pitchFamily="34" charset="-120"/>
              </a:rPr>
              <a:t>[2] United Nations Office for Disaster Risk Reduction (UNDRR) — "Sendai Framework for Disaster Risk Reduction 2015–2030".</a:t>
            </a:r>
            <a:endParaRPr lang="en-US" sz="950" dirty="0"/>
          </a:p>
          <a:p>
            <a:pPr indent="0" marL="0">
              <a:lnSpc>
                <a:spcPct val="120000"/>
              </a:lnSpc>
              <a:buNone/>
            </a:pPr>
            <a:endParaRPr lang="en-US" sz="950" dirty="0"/>
          </a:p>
          <a:p>
            <a:pPr indent="0" marL="0">
              <a:lnSpc>
                <a:spcPct val="120000"/>
              </a:lnSpc>
              <a:buNone/>
            </a:pPr>
            <a:r>
              <a:rPr lang="en-US" sz="950" dirty="0">
                <a:solidFill>
                  <a:srgbClr val="94A3B8"/>
                </a:solidFill>
                <a:latin typeface="Calibri" pitchFamily="34" charset="0"/>
                <a:ea typeface="Calibri" pitchFamily="34" charset="-122"/>
                <a:cs typeface="Calibri" pitchFamily="34" charset="-120"/>
              </a:rPr>
              <a:t>[3] S. Currion, C. Silva, and B. Van de Walle — "Open Source Software for Disaster Management", Communications of the ACM, Vol. 50, No. 3, 2007.</a:t>
            </a:r>
            <a:endParaRPr lang="en-US" sz="950" dirty="0"/>
          </a:p>
          <a:p>
            <a:pPr indent="0" marL="0">
              <a:lnSpc>
                <a:spcPct val="120000"/>
              </a:lnSpc>
              <a:buNone/>
            </a:pPr>
            <a:endParaRPr lang="en-US" sz="950" dirty="0"/>
          </a:p>
          <a:p>
            <a:pPr indent="0" marL="0">
              <a:lnSpc>
                <a:spcPct val="120000"/>
              </a:lnSpc>
              <a:buNone/>
            </a:pPr>
            <a:r>
              <a:rPr lang="en-US" sz="950" dirty="0">
                <a:solidFill>
                  <a:srgbClr val="94A3B8"/>
                </a:solidFill>
                <a:latin typeface="Calibri" pitchFamily="34" charset="0"/>
                <a:ea typeface="Calibri" pitchFamily="34" charset="-122"/>
                <a:cs typeface="Calibri" pitchFamily="34" charset="-120"/>
              </a:rPr>
              <a:t>[4] P. Meier — "Digital Humanitarians: How Big Data is Changing the Face of Humanitarian Response", CRC Press, 2015.</a:t>
            </a:r>
            <a:endParaRPr lang="en-US" sz="950" dirty="0"/>
          </a:p>
        </p:txBody>
      </p:sp>
      <p:sp>
        <p:nvSpPr>
          <p:cNvPr id="8" name="Text 6"/>
          <p:cNvSpPr/>
          <p:nvPr/>
        </p:nvSpPr>
        <p:spPr>
          <a:xfrm>
            <a:off x="914400" y="5166360"/>
            <a:ext cx="10362895" cy="411480"/>
          </a:xfrm>
          <a:prstGeom prst="rect">
            <a:avLst/>
          </a:prstGeom>
          <a:noFill/>
          <a:ln/>
        </p:spPr>
        <p:txBody>
          <a:bodyPr wrap="square" rtlCol="0" anchor="ctr"/>
          <a:lstStyle/>
          <a:p>
            <a:pPr algn="ctr" indent="0" marL="0">
              <a:buNone/>
            </a:pPr>
            <a:r>
              <a:rPr lang="en-US" sz="1800" b="1" dirty="0">
                <a:solidFill>
                  <a:srgbClr val="34D399"/>
                </a:solidFill>
                <a:latin typeface="Calibri" pitchFamily="34" charset="0"/>
                <a:ea typeface="Calibri" pitchFamily="34" charset="-122"/>
                <a:cs typeface="Calibri" pitchFamily="34" charset="-120"/>
              </a:rPr>
              <a:t>THANK YOU — OPEN FOR QUESTIONS &amp; SUGGESTIONS</a:t>
            </a:r>
            <a:endParaRPr lang="en-US" sz="1800" dirty="0"/>
          </a:p>
        </p:txBody>
      </p:sp>
      <p:sp>
        <p:nvSpPr>
          <p:cNvPr id="9" name="Text 7"/>
          <p:cNvSpPr/>
          <p:nvPr/>
        </p:nvSpPr>
        <p:spPr>
          <a:xfrm>
            <a:off x="914400" y="5669280"/>
            <a:ext cx="10362895" cy="32004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Candidate: Sanjay K | Roll No: 310624104619 | Department of Computer Science &amp; Engineering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ReliefLink Project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ReliefLink - Zeroth Review Presentation</dc:title>
  <dc:subject>Real-Time Disaster Relief &amp; Resource Coordination Platform</dc:subject>
  <dc:creator>Sanjay K (310624104619)</dc:creator>
  <cp:lastModifiedBy>Sanjay K (310624104619)</cp:lastModifiedBy>
  <cp:revision>1</cp:revision>
  <dcterms:created xsi:type="dcterms:W3CDTF">2026-09-09T06:17:09Z</dcterms:created>
  <dcterms:modified xsi:type="dcterms:W3CDTF">2026-09-09T06:17:09Z</dcterms:modified>
</cp:coreProperties>
</file>